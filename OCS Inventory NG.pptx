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3" r:id="rId1"/>
  </p:sldMasterIdLst>
  <p:notesMasterIdLst>
    <p:notesMasterId r:id="rId12"/>
  </p:notesMasterIdLst>
  <p:sldIdLst>
    <p:sldId id="256" r:id="rId2"/>
    <p:sldId id="257" r:id="rId3"/>
    <p:sldId id="260" r:id="rId4"/>
    <p:sldId id="355" r:id="rId5"/>
    <p:sldId id="261" r:id="rId6"/>
    <p:sldId id="263" r:id="rId7"/>
    <p:sldId id="262" r:id="rId8"/>
    <p:sldId id="264" r:id="rId9"/>
    <p:sldId id="354" r:id="rId10"/>
    <p:sldId id="265" r:id="rId11"/>
  </p:sldIdLst>
  <p:sldSz cx="9144000" cy="5143500" type="screen16x9"/>
  <p:notesSz cx="6858000" cy="9144000"/>
  <p:embeddedFontLst>
    <p:embeddedFont>
      <p:font typeface="Crimson Text" panose="020B0604020202020204" charset="0"/>
      <p:regular r:id="rId13"/>
      <p:bold r:id="rId14"/>
      <p:italic r:id="rId15"/>
      <p:boldItalic r:id="rId16"/>
    </p:embeddedFont>
    <p:embeddedFont>
      <p:font typeface="Lato" panose="020B0604020202020204" charset="0"/>
      <p:regular r:id="rId17"/>
      <p:bold r:id="rId18"/>
      <p:italic r:id="rId19"/>
      <p:boldItalic r:id="rId20"/>
    </p:embeddedFont>
    <p:embeddedFont>
      <p:font typeface="Montserrat" panose="020B0604020202020204" charset="0"/>
      <p:regular r:id="rId21"/>
      <p:bold r:id="rId22"/>
      <p:italic r:id="rId23"/>
      <p:boldItalic r:id="rId24"/>
    </p:embeddedFont>
    <p:embeddedFont>
      <p:font typeface="Montserrat Medium" panose="020B0604020202020204" charset="0"/>
      <p:regular r:id="rId25"/>
      <p:italic r:id="rId26"/>
    </p:embeddedFont>
    <p:embeddedFont>
      <p:font typeface="Vidaloka" panose="020B0604020202020204" charset="0"/>
      <p:regular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D444111-C5A1-4809-B853-D05CE1CB4EFF}">
  <a:tblStyle styleId="{4D444111-C5A1-4809-B853-D05CE1CB4EF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font" Target="fonts/font15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cc7554a049_0_3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cc7554a049_0_3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cd8a80d6bc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cd8a80d6bc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>
          <a:extLst>
            <a:ext uri="{FF2B5EF4-FFF2-40B4-BE49-F238E27FC236}">
              <a16:creationId xmlns:a16="http://schemas.microsoft.com/office/drawing/2014/main" id="{3213E591-C76D-2869-CE69-792067DAB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cd8a80d6bc_0_17:notes">
            <a:extLst>
              <a:ext uri="{FF2B5EF4-FFF2-40B4-BE49-F238E27FC236}">
                <a16:creationId xmlns:a16="http://schemas.microsoft.com/office/drawing/2014/main" id="{09461291-9A51-6200-2681-32BAFAA952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cd8a80d6bc_0_17:notes">
            <a:extLst>
              <a:ext uri="{FF2B5EF4-FFF2-40B4-BE49-F238E27FC236}">
                <a16:creationId xmlns:a16="http://schemas.microsoft.com/office/drawing/2014/main" id="{317F35CD-9FC9-C400-7B68-EF3B333944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18442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105aad17dc0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105aad17dc0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105aad17dc0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105aad17dc0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cc7554a049_0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gcc7554a049_0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g105aad17dc0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3" name="Google Shape;563;g105aad17dc0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039975" y="1248300"/>
            <a:ext cx="7064100" cy="20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5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040000" y="3300900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-257975" y="-72550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" name="Google Shape;13;p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" name="Google Shape;14;p2"/>
          <p:cNvCxnSpPr/>
          <p:nvPr/>
        </p:nvCxnSpPr>
        <p:spPr>
          <a:xfrm flipH="1">
            <a:off x="6467450" y="3935375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713250" y="1272925"/>
            <a:ext cx="7717500" cy="32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9pPr>
          </a:lstStyle>
          <a:p>
            <a:endParaRPr/>
          </a:p>
        </p:txBody>
      </p:sp>
      <p:cxnSp>
        <p:nvCxnSpPr>
          <p:cNvPr id="26" name="Google Shape;26;p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" name="Google Shape;27;p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" name="Google Shape;28;p4"/>
          <p:cNvCxnSpPr/>
          <p:nvPr/>
        </p:nvCxnSpPr>
        <p:spPr>
          <a:xfrm>
            <a:off x="6884900" y="-113600"/>
            <a:ext cx="2565600" cy="1306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subTitle" idx="1"/>
          </p:nvPr>
        </p:nvSpPr>
        <p:spPr>
          <a:xfrm>
            <a:off x="895950" y="1682000"/>
            <a:ext cx="3847200" cy="237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7" name="Google Shape;57;p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" name="Google Shape;58;p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" name="Google Shape;59;p9"/>
          <p:cNvCxnSpPr/>
          <p:nvPr/>
        </p:nvCxnSpPr>
        <p:spPr>
          <a:xfrm flipH="1">
            <a:off x="5925450" y="2797500"/>
            <a:ext cx="3378000" cy="24669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2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2410500" y="2808253"/>
            <a:ext cx="4323000" cy="49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subTitle" idx="1"/>
          </p:nvPr>
        </p:nvSpPr>
        <p:spPr>
          <a:xfrm>
            <a:off x="1842900" y="1661963"/>
            <a:ext cx="5458200" cy="9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16" name="Google Shape;116;p1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" name="Google Shape;117;p1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">
  <p:cSld name="CUSTOM_12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699900" y="2821263"/>
            <a:ext cx="4323000" cy="49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9pPr>
          </a:lstStyle>
          <a:p>
            <a:endParaRPr/>
          </a:p>
        </p:txBody>
      </p:sp>
      <p:sp>
        <p:nvSpPr>
          <p:cNvPr id="120" name="Google Shape;120;p16"/>
          <p:cNvSpPr txBox="1">
            <a:spLocks noGrp="1"/>
          </p:cNvSpPr>
          <p:nvPr>
            <p:ph type="subTitle" idx="1"/>
          </p:nvPr>
        </p:nvSpPr>
        <p:spPr>
          <a:xfrm>
            <a:off x="699900" y="1675902"/>
            <a:ext cx="5458200" cy="9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21" name="Google Shape;121;p1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2" name="Google Shape;122;p1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3" name="Google Shape;123;p16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4" name="Google Shape;124;p16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7"/>
          <p:cNvSpPr txBox="1">
            <a:spLocks noGrp="1"/>
          </p:cNvSpPr>
          <p:nvPr>
            <p:ph type="subTitle" idx="1"/>
          </p:nvPr>
        </p:nvSpPr>
        <p:spPr>
          <a:xfrm>
            <a:off x="2648400" y="1682000"/>
            <a:ext cx="3847200" cy="237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7"/>
          <p:cNvSpPr txBox="1">
            <a:spLocks noGrp="1"/>
          </p:cNvSpPr>
          <p:nvPr>
            <p:ph type="title"/>
          </p:nvPr>
        </p:nvSpPr>
        <p:spPr>
          <a:xfrm>
            <a:off x="1732050" y="445025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128" name="Google Shape;128;p17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9" name="Google Shape;129;p17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0" name="Google Shape;130;p17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1" name="Google Shape;131;p17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3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>
            <a:spLocks noGrp="1"/>
          </p:cNvSpPr>
          <p:nvPr>
            <p:ph type="title"/>
          </p:nvPr>
        </p:nvSpPr>
        <p:spPr>
          <a:xfrm>
            <a:off x="1994850" y="1482825"/>
            <a:ext cx="5154300" cy="129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9pPr>
          </a:lstStyle>
          <a:p>
            <a:endParaRPr/>
          </a:p>
        </p:txBody>
      </p:sp>
      <p:sp>
        <p:nvSpPr>
          <p:cNvPr id="134" name="Google Shape;134;p18"/>
          <p:cNvSpPr txBox="1">
            <a:spLocks noGrp="1"/>
          </p:cNvSpPr>
          <p:nvPr>
            <p:ph type="subTitle" idx="1"/>
          </p:nvPr>
        </p:nvSpPr>
        <p:spPr>
          <a:xfrm>
            <a:off x="2299500" y="2972150"/>
            <a:ext cx="4545000" cy="5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cxnSp>
        <p:nvCxnSpPr>
          <p:cNvPr id="135" name="Google Shape;135;p18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" name="Google Shape;136;p18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4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9"/>
          <p:cNvSpPr txBox="1">
            <a:spLocks noGrp="1"/>
          </p:cNvSpPr>
          <p:nvPr>
            <p:ph type="title"/>
          </p:nvPr>
        </p:nvSpPr>
        <p:spPr>
          <a:xfrm>
            <a:off x="3742850" y="1549875"/>
            <a:ext cx="4545000" cy="129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1pPr>
            <a:lvl2pPr lvl="1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2pPr>
            <a:lvl3pPr lvl="2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3pPr>
            <a:lvl4pPr lvl="3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4pPr>
            <a:lvl5pPr lvl="4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5pPr>
            <a:lvl6pPr lvl="5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6pPr>
            <a:lvl7pPr lvl="6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7pPr>
            <a:lvl8pPr lvl="7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8pPr>
            <a:lvl9pPr lvl="8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9pPr>
          </a:lstStyle>
          <a:p>
            <a:endParaRPr/>
          </a:p>
        </p:txBody>
      </p:sp>
      <p:sp>
        <p:nvSpPr>
          <p:cNvPr id="139" name="Google Shape;139;p19"/>
          <p:cNvSpPr txBox="1">
            <a:spLocks noGrp="1"/>
          </p:cNvSpPr>
          <p:nvPr>
            <p:ph type="subTitle" idx="1"/>
          </p:nvPr>
        </p:nvSpPr>
        <p:spPr>
          <a:xfrm>
            <a:off x="3742850" y="3039213"/>
            <a:ext cx="4545000" cy="5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cxnSp>
        <p:nvCxnSpPr>
          <p:cNvPr id="140" name="Google Shape;140;p1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" name="Google Shape;141;p1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" name="Google Shape;142;p19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" name="Google Shape;143;p19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4" name="Google Shape;144;p19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" name="Google Shape;145;p19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0"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0" name="Google Shape;450;p5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1" name="Google Shape;451;p5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0_1"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3" name="Google Shape;453;p5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4" name="Google Shape;454;p5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5" name="Google Shape;455;p51"/>
          <p:cNvCxnSpPr/>
          <p:nvPr/>
        </p:nvCxnSpPr>
        <p:spPr>
          <a:xfrm>
            <a:off x="7434175" y="-125600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6" name="Google Shape;456;p51"/>
          <p:cNvCxnSpPr/>
          <p:nvPr/>
        </p:nvCxnSpPr>
        <p:spPr>
          <a:xfrm>
            <a:off x="-147275" y="3943475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0_1_1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8" name="Google Shape;458;p5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9" name="Google Shape;459;p5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0" name="Google Shape;460;p52"/>
          <p:cNvCxnSpPr/>
          <p:nvPr/>
        </p:nvCxnSpPr>
        <p:spPr>
          <a:xfrm flipH="1">
            <a:off x="6772150" y="3663450"/>
            <a:ext cx="2823300" cy="1633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30"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2" name="Google Shape;462;p5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3" name="Google Shape;463;p5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4" name="Google Shape;464;p53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5" name="Google Shape;465;p53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6" name="Google Shape;466;p53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7" name="Google Shape;467;p53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5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5" r:id="rId3"/>
    <p:sldLayoutId id="2147483658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96" r:id="rId10"/>
    <p:sldLayoutId id="2147483697" r:id="rId11"/>
    <p:sldLayoutId id="2147483698" r:id="rId12"/>
    <p:sldLayoutId id="2147483699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9"/>
          <p:cNvSpPr txBox="1">
            <a:spLocks noGrp="1"/>
          </p:cNvSpPr>
          <p:nvPr>
            <p:ph type="ctrTitle"/>
          </p:nvPr>
        </p:nvSpPr>
        <p:spPr>
          <a:xfrm>
            <a:off x="1039975" y="1248300"/>
            <a:ext cx="7064100" cy="20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OCS Inventory NG</a:t>
            </a:r>
            <a:endParaRPr dirty="0"/>
          </a:p>
        </p:txBody>
      </p:sp>
      <p:sp>
        <p:nvSpPr>
          <p:cNvPr id="483" name="Google Shape;483;p59"/>
          <p:cNvSpPr txBox="1">
            <a:spLocks noGrp="1"/>
          </p:cNvSpPr>
          <p:nvPr>
            <p:ph type="subTitle" idx="1"/>
          </p:nvPr>
        </p:nvSpPr>
        <p:spPr>
          <a:xfrm>
            <a:off x="1039950" y="3079950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Rafael Torrão e Carvalho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Atec 2026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4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4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60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Introdução</a:t>
            </a:r>
            <a:endParaRPr dirty="0"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1"/>
          </p:nvPr>
        </p:nvSpPr>
        <p:spPr>
          <a:xfrm>
            <a:off x="713250" y="1272925"/>
            <a:ext cx="7717500" cy="32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</a:rPr>
              <a:t>Nesta </a:t>
            </a:r>
            <a:r>
              <a:rPr lang="en-US" sz="1800" dirty="0" err="1">
                <a:solidFill>
                  <a:schemeClr val="dk1"/>
                </a:solidFill>
              </a:rPr>
              <a:t>apresentação</a:t>
            </a:r>
            <a:r>
              <a:rPr lang="en-US" sz="1800" dirty="0">
                <a:solidFill>
                  <a:schemeClr val="dk1"/>
                </a:solidFill>
              </a:rPr>
              <a:t> </a:t>
            </a:r>
            <a:r>
              <a:rPr lang="en-US" sz="1800" dirty="0" err="1">
                <a:solidFill>
                  <a:schemeClr val="dk1"/>
                </a:solidFill>
              </a:rPr>
              <a:t>iremos</a:t>
            </a:r>
            <a:r>
              <a:rPr lang="en-US" sz="1800" dirty="0">
                <a:solidFill>
                  <a:schemeClr val="dk1"/>
                </a:solidFill>
              </a:rPr>
              <a:t> </a:t>
            </a:r>
            <a:r>
              <a:rPr lang="en-US" sz="1800" dirty="0" err="1">
                <a:solidFill>
                  <a:schemeClr val="dk1"/>
                </a:solidFill>
              </a:rPr>
              <a:t>abordar</a:t>
            </a:r>
            <a:r>
              <a:rPr lang="en" sz="1800" dirty="0">
                <a:solidFill>
                  <a:schemeClr val="dk1"/>
                </a:solidFill>
              </a:rPr>
              <a:t>: </a:t>
            </a: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Demonstração</a:t>
            </a:r>
            <a:r>
              <a:rPr lang="en-US" sz="1800" dirty="0">
                <a:solidFill>
                  <a:schemeClr val="dk1"/>
                </a:solidFill>
              </a:rPr>
              <a:t> do </a:t>
            </a:r>
            <a:r>
              <a:rPr lang="en-US" sz="1800" dirty="0" err="1">
                <a:solidFill>
                  <a:schemeClr val="dk1"/>
                </a:solidFill>
              </a:rPr>
              <a:t>funcionamento</a:t>
            </a:r>
            <a:r>
              <a:rPr lang="en-US" sz="1800" dirty="0">
                <a:solidFill>
                  <a:schemeClr val="dk1"/>
                </a:solidFill>
              </a:rPr>
              <a:t> da ferramenta</a:t>
            </a: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Softwares</a:t>
            </a:r>
            <a:r>
              <a:rPr lang="en-US" sz="1800" dirty="0">
                <a:solidFill>
                  <a:schemeClr val="dk1"/>
                </a:solidFill>
              </a:rPr>
              <a:t> </a:t>
            </a:r>
            <a:r>
              <a:rPr lang="en-US" sz="1800" dirty="0" err="1">
                <a:solidFill>
                  <a:schemeClr val="dk1"/>
                </a:solidFill>
              </a:rPr>
              <a:t>Compatíveis</a:t>
            </a:r>
            <a:endParaRPr lang="en-US" sz="18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Agentes</a:t>
            </a:r>
            <a:endParaRPr lang="en-US" sz="18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Porquê</a:t>
            </a:r>
            <a:r>
              <a:rPr lang="en-US" sz="1800" dirty="0">
                <a:solidFill>
                  <a:schemeClr val="dk1"/>
                </a:solidFill>
              </a:rPr>
              <a:t> </a:t>
            </a:r>
            <a:r>
              <a:rPr lang="en-US" sz="1800" dirty="0" err="1">
                <a:solidFill>
                  <a:schemeClr val="dk1"/>
                </a:solidFill>
              </a:rPr>
              <a:t>utilizar</a:t>
            </a:r>
            <a:endParaRPr lang="en-US" sz="18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Explicação</a:t>
            </a:r>
            <a:r>
              <a:rPr lang="en-US" sz="1800" dirty="0">
                <a:solidFill>
                  <a:schemeClr val="dk1"/>
                </a:solidFill>
              </a:rPr>
              <a:t> dos </a:t>
            </a:r>
            <a:r>
              <a:rPr lang="en-US" sz="1800" dirty="0" err="1">
                <a:solidFill>
                  <a:schemeClr val="dk1"/>
                </a:solidFill>
              </a:rPr>
              <a:t>laboratórios</a:t>
            </a:r>
            <a:r>
              <a:rPr lang="en-US" sz="1800" dirty="0">
                <a:solidFill>
                  <a:schemeClr val="dk1"/>
                </a:solidFill>
              </a:rPr>
              <a:t> </a:t>
            </a:r>
            <a:r>
              <a:rPr lang="en-US" sz="1800" dirty="0" err="1">
                <a:solidFill>
                  <a:schemeClr val="dk1"/>
                </a:solidFill>
              </a:rPr>
              <a:t>criados</a:t>
            </a:r>
            <a:endParaRPr lang="en-US" sz="18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Recomendações</a:t>
            </a:r>
            <a:r>
              <a:rPr lang="en-US" sz="1800" dirty="0">
                <a:solidFill>
                  <a:schemeClr val="dk1"/>
                </a:solidFill>
              </a:rPr>
              <a:t> e </a:t>
            </a:r>
            <a:r>
              <a:rPr lang="en-US" sz="1800" dirty="0" err="1">
                <a:solidFill>
                  <a:schemeClr val="dk1"/>
                </a:solidFill>
              </a:rPr>
              <a:t>dicas</a:t>
            </a:r>
            <a:endParaRPr lang="en-US" sz="1800" dirty="0">
              <a:solidFill>
                <a:schemeClr val="dk1"/>
              </a:solidFill>
            </a:endParaRPr>
          </a:p>
        </p:txBody>
      </p:sp>
      <p:pic>
        <p:nvPicPr>
          <p:cNvPr id="2050" name="Picture 2" descr="ocs inventory">
            <a:extLst>
              <a:ext uri="{FF2B5EF4-FFF2-40B4-BE49-F238E27FC236}">
                <a16:creationId xmlns:a16="http://schemas.microsoft.com/office/drawing/2014/main" id="{8C973DD7-18B4-4F3B-90E3-F914FADFD9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3250" y="2273125"/>
            <a:ext cx="2857500" cy="129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63"/>
          <p:cNvSpPr txBox="1">
            <a:spLocks noGrp="1"/>
          </p:cNvSpPr>
          <p:nvPr>
            <p:ph type="title"/>
          </p:nvPr>
        </p:nvSpPr>
        <p:spPr>
          <a:xfrm>
            <a:off x="2410500" y="266700"/>
            <a:ext cx="4323000" cy="5891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Funcionamento</a:t>
            </a:r>
            <a:endParaRPr dirty="0"/>
          </a:p>
        </p:txBody>
      </p:sp>
      <p:sp>
        <p:nvSpPr>
          <p:cNvPr id="535" name="Google Shape;535;p63"/>
          <p:cNvSpPr txBox="1">
            <a:spLocks noGrp="1"/>
          </p:cNvSpPr>
          <p:nvPr>
            <p:ph type="subTitle" idx="1"/>
          </p:nvPr>
        </p:nvSpPr>
        <p:spPr>
          <a:xfrm>
            <a:off x="422910" y="1041330"/>
            <a:ext cx="8298180" cy="30608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Aft>
                <a:spcPts val="1200"/>
              </a:spcAft>
            </a:pPr>
            <a:r>
              <a:rPr lang="en-US" sz="1600" dirty="0"/>
              <a:t>O OCS Inventory-NG (</a:t>
            </a:r>
            <a:r>
              <a:rPr lang="en-US" sz="1600" i="1" dirty="0"/>
              <a:t>Open Computer and Software Inventory</a:t>
            </a:r>
            <a:r>
              <a:rPr lang="en-US" sz="1600" dirty="0"/>
              <a:t>) é </a:t>
            </a:r>
            <a:r>
              <a:rPr lang="en-US" sz="1600" dirty="0" err="1"/>
              <a:t>uma</a:t>
            </a:r>
            <a:r>
              <a:rPr lang="en-US" sz="1600" dirty="0"/>
              <a:t> ferramenta </a:t>
            </a:r>
            <a:r>
              <a:rPr lang="en-US" sz="1600" i="1" dirty="0"/>
              <a:t>open source </a:t>
            </a:r>
            <a:r>
              <a:rPr lang="pt-BR" sz="1600" dirty="0"/>
              <a:t>bastante utilizada em servidores de empresas com elevados clientes.</a:t>
            </a:r>
          </a:p>
          <a:p>
            <a:pPr marL="0" lvl="0" indent="0" algn="l">
              <a:spcAft>
                <a:spcPts val="1200"/>
              </a:spcAft>
            </a:pPr>
            <a:r>
              <a:rPr lang="pt-PT" sz="1600" dirty="0"/>
              <a:t>Permite dar scan e armazenar toda a informação do computador do cliente e também todos os dispositivos que estarão conectados ao servidor.</a:t>
            </a:r>
          </a:p>
          <a:p>
            <a:pPr marL="0" lvl="0" indent="0" algn="l">
              <a:spcAft>
                <a:spcPts val="1200"/>
              </a:spcAft>
            </a:pPr>
            <a:r>
              <a:rPr lang="pt-BR" sz="1600" dirty="0"/>
              <a:t>É uma das melhores ferramentas no que toca a armazenamento de informações de clientes e uma das mais básicas de se colocar em prática.</a:t>
            </a:r>
          </a:p>
          <a:p>
            <a:pPr marL="0" lvl="0" indent="0" algn="l">
              <a:spcAft>
                <a:spcPts val="1200"/>
              </a:spcAft>
            </a:pPr>
            <a:r>
              <a:rPr lang="pt-BR" sz="1600" dirty="0"/>
              <a:t>Cada computador tem um agente OCS que recolhe dados sobre hardware e software, ao que esse agente recolhe as informações e envia para o servidor central.</a:t>
            </a:r>
          </a:p>
          <a:p>
            <a:pPr marL="0" lvl="0" indent="0" algn="l">
              <a:spcAft>
                <a:spcPts val="1200"/>
              </a:spcAft>
            </a:pPr>
            <a:endParaRPr lang="pt-BR" sz="1600" dirty="0"/>
          </a:p>
          <a:p>
            <a:pPr marL="0" lvl="0" indent="0" algn="l">
              <a:spcAft>
                <a:spcPts val="1200"/>
              </a:spcAft>
            </a:pPr>
            <a:endParaRPr lang="pt-BR" sz="1600" dirty="0"/>
          </a:p>
          <a:p>
            <a:pPr marL="0" lvl="0" indent="0" algn="l">
              <a:spcAft>
                <a:spcPts val="1200"/>
              </a:spcAft>
            </a:pPr>
            <a:endParaRPr sz="1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">
          <a:extLst>
            <a:ext uri="{FF2B5EF4-FFF2-40B4-BE49-F238E27FC236}">
              <a16:creationId xmlns:a16="http://schemas.microsoft.com/office/drawing/2014/main" id="{726ECF6A-9DBE-3798-E4D2-3C077CFCB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63">
            <a:extLst>
              <a:ext uri="{FF2B5EF4-FFF2-40B4-BE49-F238E27FC236}">
                <a16:creationId xmlns:a16="http://schemas.microsoft.com/office/drawing/2014/main" id="{F736F9CD-7B18-0FC3-0451-AB19C0C1E7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10500" y="266700"/>
            <a:ext cx="4323000" cy="5891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Funcionamento</a:t>
            </a:r>
            <a:endParaRPr dirty="0"/>
          </a:p>
        </p:txBody>
      </p:sp>
      <p:sp>
        <p:nvSpPr>
          <p:cNvPr id="535" name="Google Shape;535;p63">
            <a:extLst>
              <a:ext uri="{FF2B5EF4-FFF2-40B4-BE49-F238E27FC236}">
                <a16:creationId xmlns:a16="http://schemas.microsoft.com/office/drawing/2014/main" id="{FB6E4CF9-897C-0CED-FC1D-330FBF8BB9F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22910" y="1041330"/>
            <a:ext cx="8298526" cy="30608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Aft>
                <a:spcPts val="1200"/>
              </a:spcAft>
            </a:pPr>
            <a:r>
              <a:rPr lang="pt-PT" sz="1600" dirty="0"/>
              <a:t>Existe um servidor chamado de OCS </a:t>
            </a:r>
            <a:r>
              <a:rPr lang="pt-PT" sz="1600" dirty="0" err="1"/>
              <a:t>Inventory</a:t>
            </a:r>
            <a:r>
              <a:rPr lang="pt-PT" sz="1600" dirty="0"/>
              <a:t> que servirá para guardar todos os dados enviados pelos agentes em uma base de dados, tal como o </a:t>
            </a:r>
            <a:r>
              <a:rPr lang="pt-PT" sz="1600" dirty="0" err="1"/>
              <a:t>MySQL</a:t>
            </a:r>
            <a:r>
              <a:rPr lang="pt-PT" sz="1600" dirty="0"/>
              <a:t> ou até mesmo </a:t>
            </a:r>
            <a:r>
              <a:rPr lang="pt-PT" sz="1600" dirty="0" err="1"/>
              <a:t>MariaDB</a:t>
            </a:r>
            <a:r>
              <a:rPr lang="pt-PT" sz="1600" dirty="0"/>
              <a:t>, também disponibiliza tudo em uma interface via web (Apache) em HTTP ou HTTPS, o que torna tudo muito mais fácil de ver, executar algum tipo de comando ou até mesmo organizar cada cliente alocado no servidor.</a:t>
            </a:r>
          </a:p>
          <a:p>
            <a:pPr marL="0" lvl="0" indent="0" algn="l">
              <a:spcAft>
                <a:spcPts val="1200"/>
              </a:spcAft>
            </a:pPr>
            <a:endParaRPr lang="pt-PT" sz="1600" dirty="0"/>
          </a:p>
          <a:p>
            <a:pPr marL="0" lvl="0" indent="0" algn="l">
              <a:spcAft>
                <a:spcPts val="1200"/>
              </a:spcAft>
            </a:pPr>
            <a:r>
              <a:rPr lang="pt-PT" sz="1600" dirty="0"/>
              <a:t>Cada agente recolhe informações, tais como de hardware, software, </a:t>
            </a:r>
            <a:r>
              <a:rPr lang="pt-PT" sz="1600" dirty="0" err="1"/>
              <a:t>configs</a:t>
            </a:r>
            <a:r>
              <a:rPr lang="pt-PT" sz="1600" dirty="0"/>
              <a:t>, endereços IP e histórico de alterações, e periodicamente, envia tudo para o servidor central. </a:t>
            </a:r>
            <a:endParaRPr lang="pt-BR" sz="1600" dirty="0"/>
          </a:p>
          <a:p>
            <a:pPr marL="0" lvl="0" indent="0" algn="l">
              <a:spcAft>
                <a:spcPts val="1200"/>
              </a:spcAft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236092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64"/>
          <p:cNvSpPr txBox="1">
            <a:spLocks noGrp="1"/>
          </p:cNvSpPr>
          <p:nvPr>
            <p:ph type="title"/>
          </p:nvPr>
        </p:nvSpPr>
        <p:spPr>
          <a:xfrm>
            <a:off x="2410500" y="710523"/>
            <a:ext cx="4323000" cy="49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Softwares</a:t>
            </a:r>
            <a:r>
              <a:rPr lang="en-US" dirty="0"/>
              <a:t> </a:t>
            </a:r>
            <a:r>
              <a:rPr lang="en-US" dirty="0" err="1"/>
              <a:t>compativeis</a:t>
            </a:r>
            <a:endParaRPr dirty="0"/>
          </a:p>
        </p:txBody>
      </p:sp>
      <p:pic>
        <p:nvPicPr>
          <p:cNvPr id="1026" name="Picture 2" descr="https://upload.wikimedia.org/wikipedia/commons/thumb/2/21/MacOS_wordmark_%282017%29.svg/250px-MacOS_wordmark_%282017%29.svg.png">
            <a:extLst>
              <a:ext uri="{FF2B5EF4-FFF2-40B4-BE49-F238E27FC236}">
                <a16:creationId xmlns:a16="http://schemas.microsoft.com/office/drawing/2014/main" id="{3254C519-0E3A-4184-B53C-22350569E4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951" y="1600200"/>
            <a:ext cx="1519949" cy="357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windows logo PNG">
            <a:extLst>
              <a:ext uri="{FF2B5EF4-FFF2-40B4-BE49-F238E27FC236}">
                <a16:creationId xmlns:a16="http://schemas.microsoft.com/office/drawing/2014/main" id="{B6DA3103-8736-41C9-8CF1-85BF7E411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920" y="2444759"/>
            <a:ext cx="1304009" cy="1396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inux icon">
            <a:extLst>
              <a:ext uri="{FF2B5EF4-FFF2-40B4-BE49-F238E27FC236}">
                <a16:creationId xmlns:a16="http://schemas.microsoft.com/office/drawing/2014/main" id="{0978A281-6CB9-4F38-B4AC-0140E6085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6543" y="2435709"/>
            <a:ext cx="1400484" cy="1400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reeBSD's iconic logo, featuring the stylized devil known as Beastie">
            <a:extLst>
              <a:ext uri="{FF2B5EF4-FFF2-40B4-BE49-F238E27FC236}">
                <a16:creationId xmlns:a16="http://schemas.microsoft.com/office/drawing/2014/main" id="{02C5F6B9-C7E3-4294-8342-75824E5BC48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283" b="28936"/>
          <a:stretch/>
        </p:blipFill>
        <p:spPr bwMode="auto">
          <a:xfrm>
            <a:off x="2670567" y="1447324"/>
            <a:ext cx="1519949" cy="66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olaris Logo 1991">
            <a:extLst>
              <a:ext uri="{FF2B5EF4-FFF2-40B4-BE49-F238E27FC236}">
                <a16:creationId xmlns:a16="http://schemas.microsoft.com/office/drawing/2014/main" id="{0E131AFD-5118-4BFD-9159-7261CF23E5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39" r="20967"/>
          <a:stretch/>
        </p:blipFill>
        <p:spPr bwMode="auto">
          <a:xfrm>
            <a:off x="4739642" y="2440949"/>
            <a:ext cx="1469567" cy="1395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File:IBM AIX logo (pre 2021).svg">
            <a:extLst>
              <a:ext uri="{FF2B5EF4-FFF2-40B4-BE49-F238E27FC236}">
                <a16:creationId xmlns:a16="http://schemas.microsoft.com/office/drawing/2014/main" id="{42627B61-ED35-49CE-8759-C5A2DBB73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1691" y="2440949"/>
            <a:ext cx="1395244" cy="1395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utoShape 14" descr="HP-UX Logo PNG Vector">
            <a:extLst>
              <a:ext uri="{FF2B5EF4-FFF2-40B4-BE49-F238E27FC236}">
                <a16:creationId xmlns:a16="http://schemas.microsoft.com/office/drawing/2014/main" id="{AB6E84F0-DA59-4C13-9079-7791C24983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000250" y="0"/>
            <a:ext cx="51435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0650F8-0A8B-487D-8F64-A47F9722CE6B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4148" t="26657" r="4000" b="26898"/>
          <a:stretch/>
        </p:blipFill>
        <p:spPr>
          <a:xfrm>
            <a:off x="4679184" y="1447325"/>
            <a:ext cx="1530026" cy="773650"/>
          </a:xfrm>
          <a:prstGeom prst="rect">
            <a:avLst/>
          </a:prstGeom>
        </p:spPr>
      </p:pic>
      <p:pic>
        <p:nvPicPr>
          <p:cNvPr id="1040" name="Picture 16" descr="Android New 2019 Logo PNG Vector">
            <a:extLst>
              <a:ext uri="{FF2B5EF4-FFF2-40B4-BE49-F238E27FC236}">
                <a16:creationId xmlns:a16="http://schemas.microsoft.com/office/drawing/2014/main" id="{1640BD92-5485-4AF9-9E20-5251586020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41" b="37742"/>
          <a:stretch/>
        </p:blipFill>
        <p:spPr bwMode="auto">
          <a:xfrm>
            <a:off x="6573085" y="1447324"/>
            <a:ext cx="2252456" cy="552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0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0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66"/>
          <p:cNvSpPr txBox="1">
            <a:spLocks noGrp="1"/>
          </p:cNvSpPr>
          <p:nvPr>
            <p:ph type="subTitle" idx="1"/>
          </p:nvPr>
        </p:nvSpPr>
        <p:spPr>
          <a:xfrm>
            <a:off x="413497" y="1239983"/>
            <a:ext cx="8317005" cy="27347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Clr>
                <a:schemeClr val="dk1"/>
              </a:buClr>
              <a:buSzPts val="1100"/>
              <a:buNone/>
            </a:pPr>
            <a:r>
              <a:rPr lang="pt-BR" dirty="0">
                <a:solidFill>
                  <a:schemeClr val="dk1"/>
                </a:solidFill>
              </a:rPr>
              <a:t>O agente é um componente muito importante do OCS Inventory NG porque o próprio servidor não pode armazenar automaticamente dados detalhados dos dispositivos sem ele.</a:t>
            </a:r>
          </a:p>
          <a:p>
            <a:pPr marL="0" lvl="0" indent="0">
              <a:buClr>
                <a:schemeClr val="dk1"/>
              </a:buClr>
              <a:buSzPts val="1100"/>
              <a:buNone/>
            </a:pPr>
            <a:endParaRPr lang="pt-BR" dirty="0">
              <a:solidFill>
                <a:schemeClr val="dk1"/>
              </a:solidFill>
            </a:endParaRPr>
          </a:p>
          <a:p>
            <a:pPr marL="0" lvl="0" indent="0">
              <a:buClr>
                <a:schemeClr val="dk1"/>
              </a:buClr>
              <a:buSzPts val="1100"/>
              <a:buNone/>
            </a:pPr>
            <a:r>
              <a:rPr lang="pt-BR" dirty="0">
                <a:solidFill>
                  <a:schemeClr val="dk1"/>
                </a:solidFill>
              </a:rPr>
              <a:t>O que ele faz ?</a:t>
            </a:r>
            <a:endParaRPr dirty="0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Inventário de </a:t>
            </a:r>
            <a:r>
              <a:rPr lang="en" i="1" dirty="0">
                <a:solidFill>
                  <a:schemeClr val="dk1"/>
                </a:solidFill>
              </a:rPr>
              <a:t>Hardware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Inventário de </a:t>
            </a:r>
            <a:r>
              <a:rPr lang="en" i="1" dirty="0">
                <a:solidFill>
                  <a:schemeClr val="dk1"/>
                </a:solidFill>
              </a:rPr>
              <a:t>Software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Comunicação com o servidor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Implantação de pacotes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Descobre a rede (ip) do pc ligado</a:t>
            </a:r>
          </a:p>
        </p:txBody>
      </p:sp>
      <p:sp>
        <p:nvSpPr>
          <p:cNvPr id="554" name="Google Shape;554;p66"/>
          <p:cNvSpPr txBox="1">
            <a:spLocks noGrp="1"/>
          </p:cNvSpPr>
          <p:nvPr>
            <p:ph type="title"/>
          </p:nvPr>
        </p:nvSpPr>
        <p:spPr>
          <a:xfrm>
            <a:off x="1732050" y="451953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Agentes</a:t>
            </a:r>
            <a:endParaRPr dirty="0"/>
          </a:p>
        </p:txBody>
      </p:sp>
      <p:pic>
        <p:nvPicPr>
          <p:cNvPr id="1026" name="Picture 2" descr="Tutorial] OCS Inventory em servidor Windows usando XAMMP - Forumitbr.com.br">
            <a:extLst>
              <a:ext uri="{FF2B5EF4-FFF2-40B4-BE49-F238E27FC236}">
                <a16:creationId xmlns:a16="http://schemas.microsoft.com/office/drawing/2014/main" id="{D30A2E6E-73EF-2036-EB81-46A288810B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920317"/>
            <a:ext cx="3692262" cy="278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ttps://imgs.search.brave.com/KLWk0O7wMAGU1hI0105f1oQ9rTHfTMY61FA3mKr_Wso/rs:fit:860:0:0:0/g:ce/aHR0cHM6Ly9oYWNr/bWFnLmNvbS93cC1j/b250ZW50L3VwbG9h/ZHMvMjAyNS8xMS90/aHVtYm5haWwtMjYt/MTI4MHg1NzYud2Vi/cA">
            <a:extLst>
              <a:ext uri="{FF2B5EF4-FFF2-40B4-BE49-F238E27FC236}">
                <a16:creationId xmlns:a16="http://schemas.microsoft.com/office/drawing/2014/main" id="{E20BBA04-52A1-4E80-9E05-7F6EA0BE9B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75" r="21542"/>
          <a:stretch/>
        </p:blipFill>
        <p:spPr bwMode="auto">
          <a:xfrm>
            <a:off x="5817351" y="1870364"/>
            <a:ext cx="3021781" cy="230929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6" name="Google Shape;546;p65"/>
          <p:cNvSpPr txBox="1">
            <a:spLocks noGrp="1"/>
          </p:cNvSpPr>
          <p:nvPr>
            <p:ph type="subTitle" idx="1"/>
          </p:nvPr>
        </p:nvSpPr>
        <p:spPr>
          <a:xfrm>
            <a:off x="375905" y="1565564"/>
            <a:ext cx="5441446" cy="29661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</a:pPr>
            <a:r>
              <a:rPr lang="en-US" sz="1100" dirty="0" err="1"/>
              <a:t>Permite</a:t>
            </a:r>
            <a:r>
              <a:rPr lang="en-US" sz="1100" dirty="0"/>
              <a:t> </a:t>
            </a:r>
            <a:r>
              <a:rPr lang="en-US" sz="1100" dirty="0" err="1"/>
              <a:t>uma</a:t>
            </a:r>
            <a:r>
              <a:rPr lang="en-US" sz="1100" dirty="0"/>
              <a:t> </a:t>
            </a:r>
            <a:r>
              <a:rPr lang="en-US" sz="1100" dirty="0" err="1"/>
              <a:t>basta</a:t>
            </a:r>
            <a:r>
              <a:rPr lang="en-US" sz="1100" dirty="0"/>
              <a:t> </a:t>
            </a:r>
            <a:r>
              <a:rPr lang="en-US" sz="1100" dirty="0" err="1"/>
              <a:t>configuração</a:t>
            </a:r>
            <a:r>
              <a:rPr lang="en-US" sz="1100" dirty="0"/>
              <a:t> </a:t>
            </a:r>
            <a:r>
              <a:rPr lang="pt-BR" sz="1100" dirty="0"/>
              <a:t>e informação dos clientes que estão ligados a ele</a:t>
            </a:r>
          </a:p>
          <a:p>
            <a:pPr marL="285750" indent="-285750">
              <a:lnSpc>
                <a:spcPct val="150000"/>
              </a:lnSpc>
            </a:pPr>
            <a:r>
              <a:rPr lang="pt-BR" sz="1100" dirty="0"/>
              <a:t>É open source, o que facilita muitas empresas</a:t>
            </a:r>
          </a:p>
          <a:p>
            <a:pPr marL="285750" indent="-285750">
              <a:lnSpc>
                <a:spcPct val="150000"/>
              </a:lnSpc>
            </a:pPr>
            <a:r>
              <a:rPr lang="pt-BR" sz="1100" dirty="0"/>
              <a:t>Inventário automático, o que poupa muito tempo</a:t>
            </a:r>
          </a:p>
          <a:p>
            <a:pPr marL="285750" indent="-285750">
              <a:lnSpc>
                <a:spcPct val="150000"/>
              </a:lnSpc>
            </a:pPr>
            <a:r>
              <a:rPr lang="pt-BR" sz="1100" dirty="0"/>
              <a:t>Todas as informações dos computadores fica acomodada em um único servidor</a:t>
            </a:r>
          </a:p>
          <a:p>
            <a:pPr marL="285750" indent="-285750">
              <a:lnSpc>
                <a:spcPct val="150000"/>
              </a:lnSpc>
            </a:pPr>
            <a:endParaRPr lang="pt-BR" sz="1100" dirty="0"/>
          </a:p>
          <a:p>
            <a:pPr marL="0" indent="0">
              <a:lnSpc>
                <a:spcPct val="150000"/>
              </a:lnSpc>
              <a:buNone/>
            </a:pPr>
            <a:r>
              <a:rPr lang="pt-BR" sz="1200" dirty="0"/>
              <a:t>O OCS Inventory NG é uma excelente escolha porque: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pt-BR" sz="1200" dirty="0"/>
              <a:t>Simplifica a gestão da rede, poupa tempo, reduz custos e melhora o controlo dos equipamentos</a:t>
            </a:r>
          </a:p>
          <a:p>
            <a:pPr marL="285750" indent="-285750">
              <a:lnSpc>
                <a:spcPct val="150000"/>
              </a:lnSpc>
            </a:pPr>
            <a:endParaRPr lang="pt-BR" dirty="0"/>
          </a:p>
          <a:p>
            <a:pPr marL="285750" indent="-285750"/>
            <a:endParaRPr dirty="0"/>
          </a:p>
        </p:txBody>
      </p:sp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895949" y="852551"/>
            <a:ext cx="385877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Porque</a:t>
            </a:r>
            <a:r>
              <a:rPr lang="en-US" dirty="0"/>
              <a:t> devo </a:t>
            </a:r>
            <a:r>
              <a:rPr lang="en-US" dirty="0" err="1"/>
              <a:t>utilizar</a:t>
            </a:r>
            <a:r>
              <a:rPr lang="en-US" dirty="0"/>
              <a:t> ?</a:t>
            </a:r>
            <a:endParaRPr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0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0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6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67"/>
          <p:cNvSpPr txBox="1">
            <a:spLocks noGrp="1"/>
          </p:cNvSpPr>
          <p:nvPr>
            <p:ph type="title"/>
          </p:nvPr>
        </p:nvSpPr>
        <p:spPr>
          <a:xfrm>
            <a:off x="450477" y="474295"/>
            <a:ext cx="8243046" cy="8771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 err="1"/>
              <a:t>Explicação</a:t>
            </a:r>
            <a:r>
              <a:rPr lang="en-US" sz="4000" dirty="0"/>
              <a:t> dos </a:t>
            </a:r>
            <a:r>
              <a:rPr lang="en-US" sz="4000" dirty="0" err="1"/>
              <a:t>laboratórios</a:t>
            </a:r>
            <a:r>
              <a:rPr lang="en-US" sz="4000" dirty="0"/>
              <a:t> </a:t>
            </a:r>
            <a:r>
              <a:rPr lang="en-US" sz="4000" dirty="0" err="1"/>
              <a:t>criados</a:t>
            </a:r>
            <a:endParaRPr sz="4000" dirty="0"/>
          </a:p>
        </p:txBody>
      </p:sp>
      <p:sp>
        <p:nvSpPr>
          <p:cNvPr id="560" name="Google Shape;560;p67"/>
          <p:cNvSpPr txBox="1">
            <a:spLocks noGrp="1"/>
          </p:cNvSpPr>
          <p:nvPr>
            <p:ph type="subTitle" idx="1"/>
          </p:nvPr>
        </p:nvSpPr>
        <p:spPr>
          <a:xfrm>
            <a:off x="450477" y="1253652"/>
            <a:ext cx="8243046" cy="34155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Especificações</a:t>
            </a:r>
            <a:endParaRPr lang="en-US" sz="20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600" dirty="0"/>
              <a:t>OCS-Inventory-ng</a:t>
            </a:r>
            <a:r>
              <a:rPr lang="en-US" sz="1400" dirty="0"/>
              <a:t> Server 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SO – Debian com </a:t>
            </a:r>
            <a:r>
              <a:rPr lang="en-US" sz="1200" i="1" dirty="0"/>
              <a:t>GUI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en-US" sz="1200" dirty="0" err="1"/>
              <a:t>Serviços</a:t>
            </a:r>
            <a:r>
              <a:rPr lang="en-US" sz="1200" dirty="0"/>
              <a:t>: </a:t>
            </a:r>
          </a:p>
          <a:p>
            <a:pPr marL="1657350" lvl="3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Apache2</a:t>
            </a:r>
          </a:p>
          <a:p>
            <a:pPr marL="1657350" lvl="3" indent="-285750" algn="l">
              <a:buFont typeface="Arial" panose="020B0604020202020204" pitchFamily="34" charset="0"/>
              <a:buChar char="•"/>
            </a:pPr>
            <a:r>
              <a:rPr lang="en-US" sz="1200" dirty="0" err="1"/>
              <a:t>Mariadb</a:t>
            </a:r>
            <a:r>
              <a:rPr lang="en-US" sz="1200" dirty="0"/>
              <a:t>-server</a:t>
            </a:r>
          </a:p>
          <a:p>
            <a:pPr marL="1657350" lvl="3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Php</a:t>
            </a:r>
          </a:p>
          <a:p>
            <a:pPr marL="1657350" lvl="3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OCS-Inventory-ng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600" dirty="0" err="1"/>
              <a:t>Clientes</a:t>
            </a:r>
            <a:endParaRPr lang="en-US" sz="1600" dirty="0"/>
          </a:p>
          <a:p>
            <a:pPr marL="1085850" lvl="2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Windows</a:t>
            </a:r>
          </a:p>
          <a:p>
            <a:pPr marL="1543050" lvl="3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SO-Windows 10</a:t>
            </a:r>
          </a:p>
          <a:p>
            <a:pPr marL="1543050" lvl="3" indent="-171450" algn="l">
              <a:buFont typeface="Arial" panose="020B0604020202020204" pitchFamily="34" charset="0"/>
              <a:buChar char="•"/>
            </a:pPr>
            <a:r>
              <a:rPr lang="en-US" sz="1200" dirty="0" err="1"/>
              <a:t>Serviços</a:t>
            </a:r>
            <a:endParaRPr lang="en-US" sz="1200" dirty="0"/>
          </a:p>
          <a:p>
            <a:pPr marL="2000250" lvl="4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OCS-Windows-</a:t>
            </a:r>
            <a:r>
              <a:rPr lang="en-US" sz="1200" i="1" dirty="0"/>
              <a:t>Agent</a:t>
            </a:r>
            <a:r>
              <a:rPr lang="en-US" sz="1200" dirty="0"/>
              <a:t>-2.10.0.1x64</a:t>
            </a:r>
          </a:p>
          <a:p>
            <a:pPr marL="1085850" lvl="2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Linux</a:t>
            </a:r>
          </a:p>
          <a:p>
            <a:pPr marL="1543050" lvl="3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SO-Debian</a:t>
            </a:r>
          </a:p>
          <a:p>
            <a:pPr marL="1543050" lvl="3" indent="-171450" algn="l">
              <a:buFont typeface="Arial" panose="020B0604020202020204" pitchFamily="34" charset="0"/>
              <a:buChar char="•"/>
            </a:pPr>
            <a:r>
              <a:rPr lang="en-US" sz="1200" dirty="0" err="1"/>
              <a:t>Agente</a:t>
            </a:r>
            <a:r>
              <a:rPr lang="en-US" sz="1200" dirty="0"/>
              <a:t> OCSInventory-Unix-Agent-2.10.4.tar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6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6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56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56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56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56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56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56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56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56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56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56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56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56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37097-3C10-43CA-A37C-0E3277007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4850" y="536864"/>
            <a:ext cx="5154300" cy="688874"/>
          </a:xfrm>
        </p:spPr>
        <p:txBody>
          <a:bodyPr/>
          <a:lstStyle/>
          <a:p>
            <a:r>
              <a:rPr lang="en-US" sz="3200" dirty="0" err="1"/>
              <a:t>Continuação</a:t>
            </a:r>
            <a:r>
              <a:rPr lang="en-US" sz="3200" dirty="0"/>
              <a:t> da </a:t>
            </a:r>
            <a:r>
              <a:rPr lang="en-US" sz="3200" dirty="0" err="1"/>
              <a:t>explicação</a:t>
            </a: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F0446-FABF-4C61-A569-8A6B8554B8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6005" y="1319346"/>
            <a:ext cx="8498541" cy="3287290"/>
          </a:xfrm>
        </p:spPr>
        <p:txBody>
          <a:bodyPr/>
          <a:lstStyle/>
          <a:p>
            <a:pPr algn="l"/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objetivos</a:t>
            </a:r>
            <a:r>
              <a:rPr lang="en-US" dirty="0"/>
              <a:t> com o </a:t>
            </a:r>
            <a:r>
              <a:rPr lang="en-US" dirty="0" err="1"/>
              <a:t>laboratório</a:t>
            </a:r>
            <a:r>
              <a:rPr lang="en-US" dirty="0"/>
              <a:t> resume-se </a:t>
            </a:r>
            <a:r>
              <a:rPr lang="en-US" dirty="0" err="1"/>
              <a:t>em</a:t>
            </a:r>
            <a:r>
              <a:rPr lang="en-US" dirty="0"/>
              <a:t>: 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 err="1"/>
              <a:t>Instalar</a:t>
            </a:r>
            <a:endParaRPr lang="en-U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 err="1"/>
              <a:t>Configurar</a:t>
            </a:r>
            <a:endParaRPr lang="en-U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 err="1"/>
              <a:t>Utilizar</a:t>
            </a:r>
            <a:endParaRPr lang="en-US" sz="1900" dirty="0"/>
          </a:p>
          <a:p>
            <a:pPr marL="114300" indent="0" algn="l"/>
            <a:endParaRPr lang="en-US" dirty="0"/>
          </a:p>
          <a:p>
            <a:pPr algn="l"/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objetivos</a:t>
            </a:r>
            <a:r>
              <a:rPr lang="en-US" dirty="0"/>
              <a:t> </a:t>
            </a:r>
            <a:r>
              <a:rPr lang="en-US" dirty="0" err="1"/>
              <a:t>secundarios</a:t>
            </a:r>
            <a:r>
              <a:rPr lang="en-US" dirty="0"/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 err="1"/>
              <a:t>Conhecer</a:t>
            </a:r>
            <a:r>
              <a:rPr lang="en-US" dirty="0"/>
              <a:t> </a:t>
            </a:r>
            <a:r>
              <a:rPr lang="en-US" dirty="0" err="1"/>
              <a:t>alguns</a:t>
            </a:r>
            <a:r>
              <a:rPr lang="en-US" dirty="0"/>
              <a:t> plugins </a:t>
            </a:r>
            <a:r>
              <a:rPr lang="en-US" dirty="0" err="1"/>
              <a:t>existentes</a:t>
            </a:r>
            <a:r>
              <a:rPr lang="en-US" dirty="0"/>
              <a:t> </a:t>
            </a:r>
            <a:r>
              <a:rPr lang="en-US" dirty="0" err="1"/>
              <a:t>disponiveis</a:t>
            </a:r>
            <a:r>
              <a:rPr lang="en-US" dirty="0"/>
              <a:t> para o </a:t>
            </a:r>
            <a:r>
              <a:rPr lang="en-US" dirty="0" err="1"/>
              <a:t>administrador</a:t>
            </a:r>
            <a:endParaRPr lang="en-US" dirty="0"/>
          </a:p>
          <a:p>
            <a:pPr lvl="1" algn="l">
              <a:buFont typeface="Arial" panose="020B0604020202020204" pitchFamily="34" charset="0"/>
              <a:buChar char="•"/>
            </a:pPr>
            <a:r>
              <a:rPr lang="en-US" sz="1200" dirty="0"/>
              <a:t>Como por </a:t>
            </a:r>
            <a:r>
              <a:rPr lang="en-US" sz="1200" dirty="0" err="1"/>
              <a:t>exemplo</a:t>
            </a:r>
            <a:r>
              <a:rPr lang="en-US" sz="1200" dirty="0"/>
              <a:t>:</a:t>
            </a:r>
          </a:p>
          <a:p>
            <a:pPr lvl="2" algn="l">
              <a:buFont typeface="Arial" panose="020B0604020202020204" pitchFamily="34" charset="0"/>
              <a:buChar char="•"/>
            </a:pPr>
            <a:r>
              <a:rPr lang="en-US" sz="1200" dirty="0"/>
              <a:t>Firewall Configuration</a:t>
            </a:r>
          </a:p>
          <a:p>
            <a:pPr lvl="2" algn="l">
              <a:buFont typeface="Arial" panose="020B0604020202020204" pitchFamily="34" charset="0"/>
              <a:buChar char="•"/>
            </a:pPr>
            <a:r>
              <a:rPr lang="en-US" sz="1200" dirty="0"/>
              <a:t>Drive </a:t>
            </a:r>
            <a:r>
              <a:rPr lang="en-US" sz="1200" dirty="0" err="1"/>
              <a:t>Infos</a:t>
            </a:r>
            <a:endParaRPr lang="en-US" sz="1200" dirty="0"/>
          </a:p>
          <a:p>
            <a:pPr lvl="2" algn="l">
              <a:buFont typeface="Arial" panose="020B0604020202020204" pitchFamily="34" charset="0"/>
              <a:buChar char="•"/>
            </a:pPr>
            <a:r>
              <a:rPr lang="en-US" sz="1200" dirty="0"/>
              <a:t>Event Logs</a:t>
            </a:r>
          </a:p>
          <a:p>
            <a:pPr lvl="2" algn="l">
              <a:buFont typeface="Arial" panose="020B0604020202020204" pitchFamily="34" charset="0"/>
              <a:buChar char="•"/>
            </a:pPr>
            <a:r>
              <a:rPr lang="en-US" sz="1200" dirty="0"/>
              <a:t>Windows Security Details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 err="1"/>
              <a:t>Reconhecer</a:t>
            </a:r>
            <a:r>
              <a:rPr lang="en-US" dirty="0"/>
              <a:t> </a:t>
            </a:r>
            <a:r>
              <a:rPr lang="en-US" dirty="0" err="1"/>
              <a:t>possiveis</a:t>
            </a:r>
            <a:r>
              <a:rPr lang="en-US" dirty="0"/>
              <a:t> </a:t>
            </a:r>
            <a:r>
              <a:rPr lang="en-US" dirty="0" err="1"/>
              <a:t>falhas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auxencias</a:t>
            </a:r>
            <a:r>
              <a:rPr lang="en-US" dirty="0"/>
              <a:t> </a:t>
            </a:r>
            <a:r>
              <a:rPr lang="en-US" dirty="0" err="1"/>
              <a:t>dentro</a:t>
            </a:r>
            <a:r>
              <a:rPr lang="en-US" dirty="0"/>
              <a:t> do OCS-Inventory-ng</a:t>
            </a:r>
          </a:p>
        </p:txBody>
      </p:sp>
    </p:spTree>
    <p:extLst>
      <p:ext uri="{BB962C8B-B14F-4D97-AF65-F5344CB8AC3E}">
        <p14:creationId xmlns:p14="http://schemas.microsoft.com/office/powerpoint/2010/main" val="28346503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p68"/>
          <p:cNvSpPr txBox="1">
            <a:spLocks noGrp="1"/>
          </p:cNvSpPr>
          <p:nvPr>
            <p:ph type="title"/>
          </p:nvPr>
        </p:nvSpPr>
        <p:spPr>
          <a:xfrm>
            <a:off x="3541025" y="1017150"/>
            <a:ext cx="5086443" cy="5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Recomendações e boas práticas</a:t>
            </a:r>
            <a:endParaRPr sz="2800" dirty="0"/>
          </a:p>
        </p:txBody>
      </p:sp>
      <p:sp>
        <p:nvSpPr>
          <p:cNvPr id="566" name="Google Shape;566;p68"/>
          <p:cNvSpPr txBox="1">
            <a:spLocks noGrp="1"/>
          </p:cNvSpPr>
          <p:nvPr>
            <p:ph type="subTitle" idx="1"/>
          </p:nvPr>
        </p:nvSpPr>
        <p:spPr>
          <a:xfrm>
            <a:off x="3086099" y="1669923"/>
            <a:ext cx="5983941" cy="217922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Planear</a:t>
            </a:r>
            <a:r>
              <a:rPr lang="en-US" dirty="0"/>
              <a:t> </a:t>
            </a:r>
            <a:r>
              <a:rPr lang="en-US" dirty="0" err="1"/>
              <a:t>tudo</a:t>
            </a:r>
            <a:r>
              <a:rPr lang="en-US" dirty="0"/>
              <a:t> antes da </a:t>
            </a:r>
            <a:r>
              <a:rPr lang="en-US" dirty="0" err="1"/>
              <a:t>instalação</a:t>
            </a:r>
            <a:endParaRPr lang="en-U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Automatizar</a:t>
            </a:r>
            <a:r>
              <a:rPr lang="en-US" dirty="0"/>
              <a:t> a </a:t>
            </a:r>
            <a:r>
              <a:rPr lang="en-US" dirty="0" err="1"/>
              <a:t>instalação</a:t>
            </a:r>
            <a:r>
              <a:rPr lang="en-US" dirty="0"/>
              <a:t> dos </a:t>
            </a:r>
            <a:r>
              <a:rPr lang="en-US" dirty="0" err="1"/>
              <a:t>agentes</a:t>
            </a:r>
            <a:endParaRPr lang="en-U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Testar</a:t>
            </a:r>
            <a:r>
              <a:rPr lang="en-US" dirty="0"/>
              <a:t> </a:t>
            </a:r>
            <a:r>
              <a:rPr lang="en-US" dirty="0" err="1"/>
              <a:t>sempre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pacotes</a:t>
            </a:r>
            <a:r>
              <a:rPr lang="en-US" dirty="0"/>
              <a:t> antes de </a:t>
            </a:r>
            <a:r>
              <a:rPr lang="en-US" dirty="0" err="1"/>
              <a:t>instalar</a:t>
            </a:r>
            <a:endParaRPr lang="en-U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Utilizar</a:t>
            </a:r>
            <a:r>
              <a:rPr lang="en-US" dirty="0"/>
              <a:t> </a:t>
            </a:r>
            <a:r>
              <a:rPr lang="en-US" i="1" dirty="0"/>
              <a:t>HTTPS</a:t>
            </a:r>
            <a:r>
              <a:rPr lang="en-US" dirty="0"/>
              <a:t> </a:t>
            </a:r>
            <a:r>
              <a:rPr lang="en-US" dirty="0" err="1"/>
              <a:t>sempre</a:t>
            </a:r>
            <a:r>
              <a:rPr lang="en-US" dirty="0"/>
              <a:t> que </a:t>
            </a:r>
            <a:r>
              <a:rPr lang="en-US" dirty="0" err="1"/>
              <a:t>possível</a:t>
            </a:r>
            <a:r>
              <a:rPr lang="en-US" dirty="0"/>
              <a:t> “</a:t>
            </a:r>
            <a:r>
              <a:rPr lang="en-US" dirty="0" err="1"/>
              <a:t>configuração</a:t>
            </a:r>
            <a:r>
              <a:rPr lang="en-US" dirty="0"/>
              <a:t> extra”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Testar</a:t>
            </a:r>
            <a:r>
              <a:rPr lang="en-US" dirty="0"/>
              <a:t> </a:t>
            </a:r>
            <a:r>
              <a:rPr lang="en-US" dirty="0" err="1"/>
              <a:t>tudo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termos</a:t>
            </a:r>
            <a:r>
              <a:rPr lang="en-US" dirty="0"/>
              <a:t> de </a:t>
            </a:r>
            <a:r>
              <a:rPr lang="en-US" i="1" dirty="0"/>
              <a:t>IP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0AFE0FB-A4A2-4D1B-BF1C-43A928F51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462" y="1294350"/>
            <a:ext cx="2905638" cy="217922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6" grpId="0" build="p"/>
    </p:bldLst>
  </p:timing>
</p:sld>
</file>

<file path=ppt/theme/theme1.xml><?xml version="1.0" encoding="utf-8"?>
<a:theme xmlns:a="http://schemas.openxmlformats.org/drawingml/2006/main" name="Minimalist Business Slides XL by Slidesgo">
  <a:themeElements>
    <a:clrScheme name="Simple Light">
      <a:dk1>
        <a:srgbClr val="000000"/>
      </a:dk1>
      <a:lt1>
        <a:srgbClr val="E3E7F0"/>
      </a:lt1>
      <a:dk2>
        <a:srgbClr val="000000"/>
      </a:dk2>
      <a:lt2>
        <a:srgbClr val="E3E7F0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552</TotalTime>
  <Words>515</Words>
  <Application>Microsoft Office PowerPoint</Application>
  <PresentationFormat>Apresentação no Ecrã (16:9)</PresentationFormat>
  <Paragraphs>77</Paragraphs>
  <Slides>10</Slides>
  <Notes>9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10</vt:i4>
      </vt:variant>
    </vt:vector>
  </HeadingPairs>
  <TitlesOfParts>
    <vt:vector size="17" baseType="lpstr">
      <vt:lpstr>Lato</vt:lpstr>
      <vt:lpstr>Arial</vt:lpstr>
      <vt:lpstr>Montserrat Medium</vt:lpstr>
      <vt:lpstr>Vidaloka</vt:lpstr>
      <vt:lpstr>Crimson Text</vt:lpstr>
      <vt:lpstr>Montserrat</vt:lpstr>
      <vt:lpstr>Minimalist Business Slides XL by Slidesgo</vt:lpstr>
      <vt:lpstr>OCS Inventory NG</vt:lpstr>
      <vt:lpstr>Introdução</vt:lpstr>
      <vt:lpstr>Funcionamento</vt:lpstr>
      <vt:lpstr>Funcionamento</vt:lpstr>
      <vt:lpstr>Softwares compativeis</vt:lpstr>
      <vt:lpstr>Agentes</vt:lpstr>
      <vt:lpstr>Porque devo utilizar ?</vt:lpstr>
      <vt:lpstr>Explicação dos laboratórios criados</vt:lpstr>
      <vt:lpstr>Continuação da explicação</vt:lpstr>
      <vt:lpstr>Recomendações e boas práticas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OCS Inventory NG</dc:title>
  <dc:creator>T0133589</dc:creator>
  <cp:lastModifiedBy>T0133589@ciber.local</cp:lastModifiedBy>
  <cp:revision>31</cp:revision>
  <dcterms:modified xsi:type="dcterms:W3CDTF">2026-01-20T09:53:59Z</dcterms:modified>
</cp:coreProperties>
</file>