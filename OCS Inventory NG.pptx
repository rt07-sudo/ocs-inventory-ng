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12"/>
  </p:notesMasterIdLst>
  <p:sldIdLst>
    <p:sldId id="256" r:id="rId2"/>
    <p:sldId id="257" r:id="rId3"/>
    <p:sldId id="260" r:id="rId4"/>
    <p:sldId id="355" r:id="rId5"/>
    <p:sldId id="261" r:id="rId6"/>
    <p:sldId id="263" r:id="rId7"/>
    <p:sldId id="262" r:id="rId8"/>
    <p:sldId id="264" r:id="rId9"/>
    <p:sldId id="354" r:id="rId10"/>
    <p:sldId id="265" r:id="rId11"/>
  </p:sldIdLst>
  <p:sldSz cx="9144000" cy="5143500" type="screen16x9"/>
  <p:notesSz cx="6858000" cy="9144000"/>
  <p:embeddedFontLst>
    <p:embeddedFont>
      <p:font typeface="Crimson Text" panose="020B0604020202020204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Medium" panose="00000600000000000000" pitchFamily="2" charset="0"/>
      <p:regular r:id="rId25"/>
      <p:italic r:id="rId26"/>
    </p:embeddedFont>
    <p:embeddedFont>
      <p:font typeface="Vidaloka" panose="020B060402020202020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444111-C5A1-4809-B853-D05CE1CB4EFF}">
  <a:tblStyle styleId="{4D444111-C5A1-4809-B853-D05CE1CB4E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>
          <a:extLst>
            <a:ext uri="{FF2B5EF4-FFF2-40B4-BE49-F238E27FC236}">
              <a16:creationId xmlns:a16="http://schemas.microsoft.com/office/drawing/2014/main" id="{3213E591-C76D-2869-CE69-792067DAB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>
            <a:extLst>
              <a:ext uri="{FF2B5EF4-FFF2-40B4-BE49-F238E27FC236}">
                <a16:creationId xmlns:a16="http://schemas.microsoft.com/office/drawing/2014/main" id="{09461291-9A51-6200-2681-32BAFAA95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>
            <a:extLst>
              <a:ext uri="{FF2B5EF4-FFF2-40B4-BE49-F238E27FC236}">
                <a16:creationId xmlns:a16="http://schemas.microsoft.com/office/drawing/2014/main" id="{317F35CD-9FC9-C400-7B68-EF3B33394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84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cc7554a049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cc7554a049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009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1994850" y="1482825"/>
            <a:ext cx="51543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0" name="Google Shape;140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96" r:id="rId10"/>
    <p:sldLayoutId id="2147483697" r:id="rId11"/>
    <p:sldLayoutId id="2147483698" r:id="rId12"/>
    <p:sldLayoutId id="214748369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OCS Inventory NG</a:t>
            </a:r>
            <a:endParaRPr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1039950" y="307995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Rafael Torrão e Carvalho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Atec 2026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Introdução</a:t>
            </a:r>
            <a:endParaRPr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Nesta </a:t>
            </a:r>
            <a:r>
              <a:rPr lang="en-US" sz="1800" dirty="0" err="1">
                <a:solidFill>
                  <a:schemeClr val="dk1"/>
                </a:solidFill>
              </a:rPr>
              <a:t>apresentação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iremos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abordar</a:t>
            </a:r>
            <a:r>
              <a:rPr lang="en" sz="1800" dirty="0">
                <a:solidFill>
                  <a:schemeClr val="dk1"/>
                </a:solidFill>
              </a:rPr>
              <a:t>: 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sz="1800" dirty="0" err="1">
                <a:solidFill>
                  <a:schemeClr val="dk1"/>
                </a:solidFill>
              </a:rPr>
              <a:t>Demonstração</a:t>
            </a:r>
            <a:r>
              <a:rPr lang="en-US" sz="1800" dirty="0">
                <a:solidFill>
                  <a:schemeClr val="dk1"/>
                </a:solidFill>
              </a:rPr>
              <a:t> do </a:t>
            </a:r>
            <a:r>
              <a:rPr lang="en-US" sz="1800" dirty="0" err="1">
                <a:solidFill>
                  <a:schemeClr val="dk1"/>
                </a:solidFill>
              </a:rPr>
              <a:t>funcionamento</a:t>
            </a:r>
            <a:r>
              <a:rPr lang="en-US" sz="1800" dirty="0">
                <a:solidFill>
                  <a:schemeClr val="dk1"/>
                </a:solidFill>
              </a:rPr>
              <a:t> da ferramenta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sz="1800" dirty="0" err="1">
                <a:solidFill>
                  <a:schemeClr val="dk1"/>
                </a:solidFill>
              </a:rPr>
              <a:t>Explicação</a:t>
            </a:r>
            <a:r>
              <a:rPr lang="en-US" sz="1800" dirty="0">
                <a:solidFill>
                  <a:schemeClr val="dk1"/>
                </a:solidFill>
              </a:rPr>
              <a:t> dos </a:t>
            </a:r>
            <a:r>
              <a:rPr lang="en-US" sz="1800" dirty="0" err="1">
                <a:solidFill>
                  <a:schemeClr val="dk1"/>
                </a:solidFill>
              </a:rPr>
              <a:t>laboratórios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criados</a:t>
            </a:r>
            <a:endParaRPr lang="en-US" sz="18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sz="1800" dirty="0" err="1">
                <a:solidFill>
                  <a:schemeClr val="dk1"/>
                </a:solidFill>
              </a:rPr>
              <a:t>Recomendações</a:t>
            </a:r>
            <a:r>
              <a:rPr lang="en-US" sz="1800" dirty="0">
                <a:solidFill>
                  <a:schemeClr val="dk1"/>
                </a:solidFill>
              </a:rPr>
              <a:t> e </a:t>
            </a:r>
            <a:r>
              <a:rPr lang="en-US" sz="1800" dirty="0" err="1">
                <a:solidFill>
                  <a:schemeClr val="dk1"/>
                </a:solidFill>
              </a:rPr>
              <a:t>dicas</a:t>
            </a:r>
            <a:endParaRPr lang="en-US" sz="1800" dirty="0">
              <a:solidFill>
                <a:schemeClr val="dk1"/>
              </a:solidFill>
            </a:endParaRPr>
          </a:p>
        </p:txBody>
      </p:sp>
      <p:pic>
        <p:nvPicPr>
          <p:cNvPr id="2050" name="Picture 2" descr="ocs inventory">
            <a:extLst>
              <a:ext uri="{FF2B5EF4-FFF2-40B4-BE49-F238E27FC236}">
                <a16:creationId xmlns:a16="http://schemas.microsoft.com/office/drawing/2014/main" id="{8C973DD7-18B4-4F3B-90E3-F914FADFD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210" y="2838450"/>
            <a:ext cx="28575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"/>
          <p:cNvSpPr txBox="1">
            <a:spLocks noGrp="1"/>
          </p:cNvSpPr>
          <p:nvPr>
            <p:ph type="title"/>
          </p:nvPr>
        </p:nvSpPr>
        <p:spPr>
          <a:xfrm>
            <a:off x="2410500" y="266700"/>
            <a:ext cx="4323000" cy="589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Funcionamento</a:t>
            </a:r>
            <a:endParaRPr dirty="0"/>
          </a:p>
        </p:txBody>
      </p:sp>
      <p:sp>
        <p:nvSpPr>
          <p:cNvPr id="535" name="Google Shape;535;p63"/>
          <p:cNvSpPr txBox="1">
            <a:spLocks noGrp="1"/>
          </p:cNvSpPr>
          <p:nvPr>
            <p:ph type="subTitle" idx="1"/>
          </p:nvPr>
        </p:nvSpPr>
        <p:spPr>
          <a:xfrm>
            <a:off x="422910" y="1041330"/>
            <a:ext cx="8298180" cy="3060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sz="1600" dirty="0"/>
              <a:t>O OCS Inventory-NG (</a:t>
            </a:r>
            <a:r>
              <a:rPr lang="en-US" sz="1600" i="1" dirty="0"/>
              <a:t>Open Computer and Software Inventory</a:t>
            </a:r>
            <a:r>
              <a:rPr lang="en-US" sz="1600" dirty="0"/>
              <a:t>) é </a:t>
            </a:r>
            <a:r>
              <a:rPr lang="en-US" sz="1600" dirty="0" err="1"/>
              <a:t>uma</a:t>
            </a:r>
            <a:r>
              <a:rPr lang="en-US" sz="1600" dirty="0"/>
              <a:t> ferramenta </a:t>
            </a:r>
            <a:r>
              <a:rPr lang="en-US" sz="1600" i="1" dirty="0"/>
              <a:t>open source </a:t>
            </a:r>
            <a:r>
              <a:rPr lang="pt-BR" sz="1600" dirty="0"/>
              <a:t>bastante utilizada em servidores de empresas com elevados clientes.</a:t>
            </a:r>
          </a:p>
          <a:p>
            <a:pPr marL="0" lvl="0" indent="0" algn="l">
              <a:spcAft>
                <a:spcPts val="1200"/>
              </a:spcAft>
            </a:pPr>
            <a:r>
              <a:rPr lang="pt-PT" sz="1600" dirty="0"/>
              <a:t>Permite dar scan e armazenar toda a informação do computador do cliente e também todos os dispositivos que estarão conectados ao servidor.</a:t>
            </a:r>
          </a:p>
          <a:p>
            <a:pPr marL="0" lvl="0" indent="0" algn="l">
              <a:spcAft>
                <a:spcPts val="1200"/>
              </a:spcAft>
            </a:pPr>
            <a:r>
              <a:rPr lang="pt-BR" sz="1600" dirty="0"/>
              <a:t>É uma das melhores ferramentas no que toca a armazenamento de informações de clientes e uma das mais básicas de se colocar em prática.</a:t>
            </a:r>
          </a:p>
          <a:p>
            <a:pPr marL="0" lvl="0" indent="0" algn="l">
              <a:spcAft>
                <a:spcPts val="1200"/>
              </a:spcAft>
            </a:pPr>
            <a:r>
              <a:rPr lang="pt-BR" sz="1600" dirty="0"/>
              <a:t>Cada computador tem um agente OCS que recolhe dados sobre hardware e software, ao que esse agente recolhe as informações e envia para o servidor central.</a:t>
            </a:r>
          </a:p>
          <a:p>
            <a:pPr marL="0" lvl="0" indent="0" algn="l">
              <a:spcAft>
                <a:spcPts val="1200"/>
              </a:spcAft>
            </a:pPr>
            <a:endParaRPr lang="pt-BR" sz="1600" dirty="0"/>
          </a:p>
          <a:p>
            <a:pPr marL="0" lvl="0" indent="0" algn="l">
              <a:spcAft>
                <a:spcPts val="1200"/>
              </a:spcAft>
            </a:pPr>
            <a:endParaRPr lang="pt-BR" sz="1600" dirty="0"/>
          </a:p>
          <a:p>
            <a:pPr marL="0" lvl="0" indent="0" algn="l">
              <a:spcAft>
                <a:spcPts val="1200"/>
              </a:spcAft>
            </a:pP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>
          <a:extLst>
            <a:ext uri="{FF2B5EF4-FFF2-40B4-BE49-F238E27FC236}">
              <a16:creationId xmlns:a16="http://schemas.microsoft.com/office/drawing/2014/main" id="{726ECF6A-9DBE-3798-E4D2-3C077CFC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">
            <a:extLst>
              <a:ext uri="{FF2B5EF4-FFF2-40B4-BE49-F238E27FC236}">
                <a16:creationId xmlns:a16="http://schemas.microsoft.com/office/drawing/2014/main" id="{F736F9CD-7B18-0FC3-0451-AB19C0C1E7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10500" y="266700"/>
            <a:ext cx="4323000" cy="589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Funcionamento</a:t>
            </a:r>
            <a:endParaRPr dirty="0"/>
          </a:p>
        </p:txBody>
      </p:sp>
      <p:sp>
        <p:nvSpPr>
          <p:cNvPr id="535" name="Google Shape;535;p63">
            <a:extLst>
              <a:ext uri="{FF2B5EF4-FFF2-40B4-BE49-F238E27FC236}">
                <a16:creationId xmlns:a16="http://schemas.microsoft.com/office/drawing/2014/main" id="{FB6E4CF9-897C-0CED-FC1D-330FBF8BB9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2910" y="1041330"/>
            <a:ext cx="8298526" cy="3060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pt-PT" sz="1600" dirty="0"/>
              <a:t>Existe um servidor chamado de OCS </a:t>
            </a:r>
            <a:r>
              <a:rPr lang="pt-PT" sz="1600" dirty="0" err="1"/>
              <a:t>Inventory</a:t>
            </a:r>
            <a:r>
              <a:rPr lang="pt-PT" sz="1600" dirty="0"/>
              <a:t> que servirá para guardar todos os dados enviados pelos agentes em uma base de dados, tal como o </a:t>
            </a:r>
            <a:r>
              <a:rPr lang="pt-PT" sz="1600" dirty="0" err="1"/>
              <a:t>MySQL</a:t>
            </a:r>
            <a:r>
              <a:rPr lang="pt-PT" sz="1600" dirty="0"/>
              <a:t> ou até mesmo </a:t>
            </a:r>
            <a:r>
              <a:rPr lang="pt-PT" sz="1600" dirty="0" err="1"/>
              <a:t>MariaDB</a:t>
            </a:r>
            <a:r>
              <a:rPr lang="pt-PT" sz="1600" dirty="0"/>
              <a:t>, também disponibiliza tudo em uma interface via web (Apache) em HTTP ou HTTPS, o que torna tudo muito mais fácil de ver, executar algum tipo de comando ou até mesmo organizar cada cliente alocado no servidor.</a:t>
            </a:r>
          </a:p>
          <a:p>
            <a:pPr marL="0" lvl="0" indent="0" algn="l">
              <a:spcAft>
                <a:spcPts val="1200"/>
              </a:spcAft>
            </a:pPr>
            <a:endParaRPr lang="pt-PT" sz="1600" dirty="0"/>
          </a:p>
          <a:p>
            <a:pPr marL="0" lvl="0" indent="0" algn="l">
              <a:spcAft>
                <a:spcPts val="1200"/>
              </a:spcAft>
            </a:pPr>
            <a:r>
              <a:rPr lang="pt-PT" sz="1600" dirty="0"/>
              <a:t>Cada agente recolhe informações, tais como de hardware, software, </a:t>
            </a:r>
            <a:r>
              <a:rPr lang="pt-PT" sz="1600" dirty="0" err="1"/>
              <a:t>configs</a:t>
            </a:r>
            <a:r>
              <a:rPr lang="pt-PT" sz="1600" dirty="0"/>
              <a:t>, endereços IP e histórico de alterações, e periodicamente, envia tudo para o servidor central. </a:t>
            </a:r>
            <a:endParaRPr lang="pt-BR" sz="1600" dirty="0"/>
          </a:p>
          <a:p>
            <a:pPr marL="0" lvl="0" indent="0" algn="l">
              <a:spcAft>
                <a:spcPts val="1200"/>
              </a:spcAft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2360929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>
            <a:spLocks noGrp="1"/>
          </p:cNvSpPr>
          <p:nvPr>
            <p:ph type="title"/>
          </p:nvPr>
        </p:nvSpPr>
        <p:spPr>
          <a:xfrm>
            <a:off x="2410500" y="71052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Softwares</a:t>
            </a:r>
            <a:r>
              <a:rPr lang="en-US" dirty="0"/>
              <a:t> </a:t>
            </a:r>
            <a:r>
              <a:rPr lang="en-US" dirty="0" err="1"/>
              <a:t>compativeis</a:t>
            </a:r>
            <a:endParaRPr dirty="0"/>
          </a:p>
        </p:txBody>
      </p:sp>
      <p:pic>
        <p:nvPicPr>
          <p:cNvPr id="1026" name="Picture 2" descr="https://upload.wikimedia.org/wikipedia/commons/thumb/2/21/MacOS_wordmark_%282017%29.svg/250px-MacOS_wordmark_%282017%29.svg.png">
            <a:extLst>
              <a:ext uri="{FF2B5EF4-FFF2-40B4-BE49-F238E27FC236}">
                <a16:creationId xmlns:a16="http://schemas.microsoft.com/office/drawing/2014/main" id="{3254C519-0E3A-4184-B53C-22350569E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51" y="1600200"/>
            <a:ext cx="1519949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indows logo PNG">
            <a:extLst>
              <a:ext uri="{FF2B5EF4-FFF2-40B4-BE49-F238E27FC236}">
                <a16:creationId xmlns:a16="http://schemas.microsoft.com/office/drawing/2014/main" id="{B6DA3103-8736-41C9-8CF1-85BF7E411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20" y="2444759"/>
            <a:ext cx="1304009" cy="139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inux icon">
            <a:extLst>
              <a:ext uri="{FF2B5EF4-FFF2-40B4-BE49-F238E27FC236}">
                <a16:creationId xmlns:a16="http://schemas.microsoft.com/office/drawing/2014/main" id="{0978A281-6CB9-4F38-B4AC-0140E6085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543" y="2435709"/>
            <a:ext cx="1400484" cy="140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eeBSD's iconic logo, featuring the stylized devil known as Beastie">
            <a:extLst>
              <a:ext uri="{FF2B5EF4-FFF2-40B4-BE49-F238E27FC236}">
                <a16:creationId xmlns:a16="http://schemas.microsoft.com/office/drawing/2014/main" id="{02C5F6B9-C7E3-4294-8342-75824E5BC4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83" b="28936"/>
          <a:stretch/>
        </p:blipFill>
        <p:spPr bwMode="auto">
          <a:xfrm>
            <a:off x="2670567" y="1447324"/>
            <a:ext cx="1519949" cy="66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aris Logo 1991">
            <a:extLst>
              <a:ext uri="{FF2B5EF4-FFF2-40B4-BE49-F238E27FC236}">
                <a16:creationId xmlns:a16="http://schemas.microsoft.com/office/drawing/2014/main" id="{0E131AFD-5118-4BFD-9159-7261CF23E5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9" r="20967"/>
          <a:stretch/>
        </p:blipFill>
        <p:spPr bwMode="auto">
          <a:xfrm>
            <a:off x="4739642" y="2440949"/>
            <a:ext cx="1469567" cy="139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ile:IBM AIX logo (pre 2021).svg">
            <a:extLst>
              <a:ext uri="{FF2B5EF4-FFF2-40B4-BE49-F238E27FC236}">
                <a16:creationId xmlns:a16="http://schemas.microsoft.com/office/drawing/2014/main" id="{42627B61-ED35-49CE-8759-C5A2DBB73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691" y="2440949"/>
            <a:ext cx="1395244" cy="139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14" descr="HP-UX Logo PNG Vector">
            <a:extLst>
              <a:ext uri="{FF2B5EF4-FFF2-40B4-BE49-F238E27FC236}">
                <a16:creationId xmlns:a16="http://schemas.microsoft.com/office/drawing/2014/main" id="{AB6E84F0-DA59-4C13-9079-7791C24983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00250" y="0"/>
            <a:ext cx="51435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650F8-0A8B-487D-8F64-A47F9722CE6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148" t="26657" r="4000" b="26898"/>
          <a:stretch/>
        </p:blipFill>
        <p:spPr>
          <a:xfrm>
            <a:off x="4679184" y="1447325"/>
            <a:ext cx="1530026" cy="773650"/>
          </a:xfrm>
          <a:prstGeom prst="rect">
            <a:avLst/>
          </a:prstGeom>
        </p:spPr>
      </p:pic>
      <p:pic>
        <p:nvPicPr>
          <p:cNvPr id="1040" name="Picture 16" descr="Android New 2019 Logo PNG Vector">
            <a:extLst>
              <a:ext uri="{FF2B5EF4-FFF2-40B4-BE49-F238E27FC236}">
                <a16:creationId xmlns:a16="http://schemas.microsoft.com/office/drawing/2014/main" id="{1640BD92-5485-4AF9-9E20-5251586020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41" b="37742"/>
          <a:stretch/>
        </p:blipFill>
        <p:spPr bwMode="auto">
          <a:xfrm>
            <a:off x="6573085" y="1447324"/>
            <a:ext cx="2252456" cy="55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6"/>
          <p:cNvSpPr txBox="1">
            <a:spLocks noGrp="1"/>
          </p:cNvSpPr>
          <p:nvPr>
            <p:ph type="subTitle" idx="1"/>
          </p:nvPr>
        </p:nvSpPr>
        <p:spPr>
          <a:xfrm>
            <a:off x="413497" y="1239983"/>
            <a:ext cx="8317005" cy="2734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>
                <a:solidFill>
                  <a:schemeClr val="dk1"/>
                </a:solidFill>
              </a:rPr>
              <a:t>O agente é um componente muito importante do OCS Inventory NG porque o próprio servidor não pode armazenar automaticamente dados detalhados dos dispositivos sem ele.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dirty="0">
              <a:solidFill>
                <a:schemeClr val="dk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>
                <a:solidFill>
                  <a:schemeClr val="dk1"/>
                </a:solidFill>
              </a:rPr>
              <a:t>O que ele faz ?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Inventário de </a:t>
            </a:r>
            <a:r>
              <a:rPr lang="en" i="1" dirty="0">
                <a:solidFill>
                  <a:schemeClr val="dk1"/>
                </a:solidFill>
              </a:rPr>
              <a:t>Hardware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Inventário de </a:t>
            </a:r>
            <a:r>
              <a:rPr lang="en" i="1" dirty="0">
                <a:solidFill>
                  <a:schemeClr val="dk1"/>
                </a:solidFill>
              </a:rPr>
              <a:t>Software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Comunicação com o servidor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Implantação de pacotes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Descobre a rede (ip) do pc ligado</a:t>
            </a:r>
          </a:p>
        </p:txBody>
      </p:sp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1732050" y="451953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Agentes</a:t>
            </a:r>
            <a:endParaRPr dirty="0"/>
          </a:p>
        </p:txBody>
      </p:sp>
      <p:pic>
        <p:nvPicPr>
          <p:cNvPr id="1026" name="Picture 2" descr="Tutorial] OCS Inventory em servidor Windows usando XAMMP - Forumitbr.com.br">
            <a:extLst>
              <a:ext uri="{FF2B5EF4-FFF2-40B4-BE49-F238E27FC236}">
                <a16:creationId xmlns:a16="http://schemas.microsoft.com/office/drawing/2014/main" id="{D30A2E6E-73EF-2036-EB81-46A288810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20317"/>
            <a:ext cx="3692262" cy="27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mgs.search.brave.com/KLWk0O7wMAGU1hI0105f1oQ9rTHfTMY61FA3mKr_Wso/rs:fit:860:0:0:0/g:ce/aHR0cHM6Ly9oYWNr/bWFnLmNvbS93cC1j/b250ZW50L3VwbG9h/ZHMvMjAyNS8xMS90/aHVtYm5haWwtMjYt/MTI4MHg1NzYud2Vi/cA">
            <a:extLst>
              <a:ext uri="{FF2B5EF4-FFF2-40B4-BE49-F238E27FC236}">
                <a16:creationId xmlns:a16="http://schemas.microsoft.com/office/drawing/2014/main" id="{E20BBA04-52A1-4E80-9E05-7F6EA0BE9B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75" r="21542"/>
          <a:stretch/>
        </p:blipFill>
        <p:spPr bwMode="auto">
          <a:xfrm>
            <a:off x="5817351" y="1870364"/>
            <a:ext cx="3021781" cy="23092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6" name="Google Shape;546;p65"/>
          <p:cNvSpPr txBox="1">
            <a:spLocks noGrp="1"/>
          </p:cNvSpPr>
          <p:nvPr>
            <p:ph type="subTitle" idx="1"/>
          </p:nvPr>
        </p:nvSpPr>
        <p:spPr>
          <a:xfrm>
            <a:off x="375905" y="1565564"/>
            <a:ext cx="5441446" cy="29661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US" sz="1100" dirty="0" err="1"/>
              <a:t>Permite</a:t>
            </a:r>
            <a:r>
              <a:rPr lang="en-US" sz="1100" dirty="0"/>
              <a:t> </a:t>
            </a:r>
            <a:r>
              <a:rPr lang="en-US" sz="1100" dirty="0" err="1"/>
              <a:t>uma</a:t>
            </a:r>
            <a:r>
              <a:rPr lang="en-US" sz="1100" dirty="0"/>
              <a:t> </a:t>
            </a:r>
            <a:r>
              <a:rPr lang="en-US" sz="1100" dirty="0" err="1"/>
              <a:t>basta</a:t>
            </a:r>
            <a:r>
              <a:rPr lang="en-US" sz="1100" dirty="0"/>
              <a:t> </a:t>
            </a:r>
            <a:r>
              <a:rPr lang="en-US" sz="1100" dirty="0" err="1"/>
              <a:t>configuração</a:t>
            </a:r>
            <a:r>
              <a:rPr lang="en-US" sz="1100" dirty="0"/>
              <a:t> </a:t>
            </a:r>
            <a:r>
              <a:rPr lang="pt-BR" sz="1100" dirty="0"/>
              <a:t>e informação dos clientes que estão ligados a ele</a:t>
            </a:r>
          </a:p>
          <a:p>
            <a:pPr marL="285750" indent="-285750">
              <a:lnSpc>
                <a:spcPct val="150000"/>
              </a:lnSpc>
            </a:pPr>
            <a:r>
              <a:rPr lang="pt-BR" sz="1100" dirty="0"/>
              <a:t>É open source, o que facilita muitas empresas</a:t>
            </a:r>
          </a:p>
          <a:p>
            <a:pPr marL="285750" indent="-285750">
              <a:lnSpc>
                <a:spcPct val="150000"/>
              </a:lnSpc>
            </a:pPr>
            <a:r>
              <a:rPr lang="pt-BR" sz="1100" dirty="0"/>
              <a:t>Inventário automático, o que poupa muito tempo</a:t>
            </a:r>
          </a:p>
          <a:p>
            <a:pPr marL="285750" indent="-285750">
              <a:lnSpc>
                <a:spcPct val="150000"/>
              </a:lnSpc>
            </a:pPr>
            <a:r>
              <a:rPr lang="pt-BR" sz="1100" dirty="0"/>
              <a:t>Todas as informações dos computadores fica acomodada em um único servidor</a:t>
            </a:r>
          </a:p>
          <a:p>
            <a:pPr marL="285750" indent="-285750">
              <a:lnSpc>
                <a:spcPct val="150000"/>
              </a:lnSpc>
            </a:pPr>
            <a:endParaRPr lang="pt-BR" sz="1100" dirty="0"/>
          </a:p>
          <a:p>
            <a:pPr marL="0" indent="0">
              <a:lnSpc>
                <a:spcPct val="150000"/>
              </a:lnSpc>
              <a:buNone/>
            </a:pPr>
            <a:r>
              <a:rPr lang="pt-BR" sz="1200" dirty="0"/>
              <a:t>O OCS Inventory NG é uma excelente escolha porque: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1200" dirty="0"/>
              <a:t>Simplifica a gestão da rede, poupa tempo, reduz custos e melhora o controlo dos equipamentos</a:t>
            </a:r>
          </a:p>
          <a:p>
            <a:pPr marL="285750" indent="-285750">
              <a:lnSpc>
                <a:spcPct val="150000"/>
              </a:lnSpc>
            </a:pPr>
            <a:endParaRPr lang="pt-BR" dirty="0"/>
          </a:p>
          <a:p>
            <a:pPr marL="285750" indent="-285750"/>
            <a:endParaRPr dirty="0"/>
          </a:p>
        </p:txBody>
      </p:sp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895949" y="852551"/>
            <a:ext cx="38587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Porque</a:t>
            </a:r>
            <a:r>
              <a:rPr lang="en-US" dirty="0"/>
              <a:t> devo </a:t>
            </a:r>
            <a:r>
              <a:rPr lang="en-US" dirty="0" err="1"/>
              <a:t>utilizar</a:t>
            </a:r>
            <a:r>
              <a:rPr lang="en-US" dirty="0"/>
              <a:t> ?</a:t>
            </a:r>
            <a:endParaRPr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>
            <a:spLocks noGrp="1"/>
          </p:cNvSpPr>
          <p:nvPr>
            <p:ph type="title"/>
          </p:nvPr>
        </p:nvSpPr>
        <p:spPr>
          <a:xfrm>
            <a:off x="450477" y="474295"/>
            <a:ext cx="8243046" cy="877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/>
              <a:t>Explicação</a:t>
            </a:r>
            <a:r>
              <a:rPr lang="en-US" sz="4000" dirty="0"/>
              <a:t> dos </a:t>
            </a:r>
            <a:r>
              <a:rPr lang="en-US" sz="4000" dirty="0" err="1"/>
              <a:t>laboratórios</a:t>
            </a:r>
            <a:r>
              <a:rPr lang="en-US" sz="4000" dirty="0"/>
              <a:t> </a:t>
            </a:r>
            <a:r>
              <a:rPr lang="en-US" sz="4000" dirty="0" err="1"/>
              <a:t>criados</a:t>
            </a:r>
            <a:endParaRPr sz="4000" dirty="0"/>
          </a:p>
        </p:txBody>
      </p:sp>
      <p:sp>
        <p:nvSpPr>
          <p:cNvPr id="560" name="Google Shape;560;p67"/>
          <p:cNvSpPr txBox="1">
            <a:spLocks noGrp="1"/>
          </p:cNvSpPr>
          <p:nvPr>
            <p:ph type="subTitle" idx="1"/>
          </p:nvPr>
        </p:nvSpPr>
        <p:spPr>
          <a:xfrm>
            <a:off x="450477" y="1253652"/>
            <a:ext cx="8243046" cy="34155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Especificações</a:t>
            </a:r>
            <a:endParaRPr lang="en-US" sz="20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OCS-Inventory-ng</a:t>
            </a:r>
            <a:r>
              <a:rPr lang="en-US" sz="1400" dirty="0"/>
              <a:t> Server 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SO – Debian com </a:t>
            </a:r>
            <a:r>
              <a:rPr lang="en-US" sz="1200" i="1" dirty="0"/>
              <a:t>GUI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sz="1200" dirty="0" err="1"/>
              <a:t>Serviços</a:t>
            </a:r>
            <a:r>
              <a:rPr lang="en-US" sz="1200" dirty="0"/>
              <a:t>: 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Apache2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1200" dirty="0" err="1"/>
              <a:t>Mariadb</a:t>
            </a:r>
            <a:r>
              <a:rPr lang="en-US" sz="1200" dirty="0"/>
              <a:t>-server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Php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OCS-Inventory-ng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 err="1"/>
              <a:t>Clientes</a:t>
            </a:r>
            <a:endParaRPr lang="en-US" sz="1600" dirty="0"/>
          </a:p>
          <a:p>
            <a:pPr marL="1085850" lvl="2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Windows</a:t>
            </a:r>
          </a:p>
          <a:p>
            <a:pPr marL="1543050" lvl="3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SO-Windows 10</a:t>
            </a:r>
          </a:p>
          <a:p>
            <a:pPr marL="1543050" lvl="3" indent="-171450" algn="l">
              <a:buFont typeface="Arial" panose="020B0604020202020204" pitchFamily="34" charset="0"/>
              <a:buChar char="•"/>
            </a:pPr>
            <a:r>
              <a:rPr lang="en-US" sz="1200" dirty="0" err="1"/>
              <a:t>Serviços</a:t>
            </a:r>
            <a:endParaRPr lang="en-US" sz="1200" dirty="0"/>
          </a:p>
          <a:p>
            <a:pPr marL="2000250" lvl="4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OCS-Windows-</a:t>
            </a:r>
            <a:r>
              <a:rPr lang="en-US" sz="1200" i="1" dirty="0"/>
              <a:t>Agent</a:t>
            </a:r>
            <a:r>
              <a:rPr lang="en-US" sz="1200" dirty="0"/>
              <a:t>-2.10.0.1x64</a:t>
            </a:r>
          </a:p>
          <a:p>
            <a:pPr marL="1085850" lvl="2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Linux</a:t>
            </a:r>
          </a:p>
          <a:p>
            <a:pPr marL="1543050" lvl="3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SO-Debian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37097-3C10-43CA-A37C-0E327700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850" y="536864"/>
            <a:ext cx="5154300" cy="688874"/>
          </a:xfrm>
        </p:spPr>
        <p:txBody>
          <a:bodyPr/>
          <a:lstStyle/>
          <a:p>
            <a:r>
              <a:rPr lang="en-US" sz="3200" dirty="0" err="1"/>
              <a:t>Continuação</a:t>
            </a:r>
            <a:r>
              <a:rPr lang="en-US" sz="3200" dirty="0"/>
              <a:t> da </a:t>
            </a:r>
            <a:r>
              <a:rPr lang="en-US" sz="3200" dirty="0" err="1"/>
              <a:t>explicação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F0446-FABF-4C61-A569-8A6B8554B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005" y="1319346"/>
            <a:ext cx="8498541" cy="3287290"/>
          </a:xfrm>
        </p:spPr>
        <p:txBody>
          <a:bodyPr/>
          <a:lstStyle/>
          <a:p>
            <a:pPr algn="l"/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objetivos</a:t>
            </a:r>
            <a:r>
              <a:rPr lang="en-US" dirty="0"/>
              <a:t> com o </a:t>
            </a:r>
            <a:r>
              <a:rPr lang="en-US" dirty="0" err="1"/>
              <a:t>laboratório</a:t>
            </a:r>
            <a:r>
              <a:rPr lang="en-US" dirty="0"/>
              <a:t> resume-se </a:t>
            </a:r>
            <a:r>
              <a:rPr lang="en-US" dirty="0" err="1"/>
              <a:t>em</a:t>
            </a:r>
            <a:r>
              <a:rPr lang="en-US" dirty="0"/>
              <a:t>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Instalar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Configurar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Utilizar</a:t>
            </a:r>
            <a:endParaRPr lang="en-US" sz="1900" dirty="0"/>
          </a:p>
          <a:p>
            <a:pPr marL="114300" indent="0" algn="l"/>
            <a:endParaRPr lang="en-US" dirty="0"/>
          </a:p>
          <a:p>
            <a:pPr algn="l"/>
            <a:r>
              <a:rPr lang="en-US" dirty="0" err="1"/>
              <a:t>Alguns</a:t>
            </a:r>
            <a:r>
              <a:rPr lang="en-US" dirty="0"/>
              <a:t> </a:t>
            </a:r>
            <a:r>
              <a:rPr lang="en-US" dirty="0" err="1"/>
              <a:t>objetivos</a:t>
            </a:r>
            <a:r>
              <a:rPr lang="en-US" dirty="0"/>
              <a:t> </a:t>
            </a:r>
            <a:r>
              <a:rPr lang="en-US" dirty="0" err="1"/>
              <a:t>secundarios</a:t>
            </a:r>
            <a:r>
              <a:rPr lang="en-US" dirty="0"/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Conhecer</a:t>
            </a:r>
            <a:r>
              <a:rPr lang="en-US" dirty="0"/>
              <a:t> </a:t>
            </a:r>
            <a:r>
              <a:rPr lang="en-US" dirty="0" err="1"/>
              <a:t>alguns</a:t>
            </a:r>
            <a:r>
              <a:rPr lang="en-US" dirty="0"/>
              <a:t> plugins </a:t>
            </a:r>
            <a:r>
              <a:rPr lang="en-US" dirty="0" err="1"/>
              <a:t>existentes</a:t>
            </a:r>
            <a:r>
              <a:rPr lang="en-US" dirty="0"/>
              <a:t> </a:t>
            </a:r>
            <a:r>
              <a:rPr lang="en-US" dirty="0" err="1"/>
              <a:t>disponiveis</a:t>
            </a:r>
            <a:r>
              <a:rPr lang="en-US" dirty="0"/>
              <a:t> para o </a:t>
            </a:r>
            <a:r>
              <a:rPr lang="en-US" dirty="0" err="1"/>
              <a:t>administrador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Reconhecer</a:t>
            </a:r>
            <a:r>
              <a:rPr lang="en-US" dirty="0"/>
              <a:t> </a:t>
            </a:r>
            <a:r>
              <a:rPr lang="en-US" dirty="0" err="1"/>
              <a:t>possiveis</a:t>
            </a:r>
            <a:r>
              <a:rPr lang="en-US" dirty="0"/>
              <a:t> </a:t>
            </a:r>
            <a:r>
              <a:rPr lang="en-US" dirty="0" err="1"/>
              <a:t>falhas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auxencias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do OCS-Inventory-ng</a:t>
            </a:r>
          </a:p>
        </p:txBody>
      </p:sp>
    </p:spTree>
    <p:extLst>
      <p:ext uri="{BB962C8B-B14F-4D97-AF65-F5344CB8AC3E}">
        <p14:creationId xmlns:p14="http://schemas.microsoft.com/office/powerpoint/2010/main" val="28346503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3541025" y="1017150"/>
            <a:ext cx="5086443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Recomendações e boas práticas</a:t>
            </a:r>
            <a:endParaRPr sz="28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3086099" y="1669923"/>
            <a:ext cx="5983941" cy="21792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Planear</a:t>
            </a:r>
            <a:r>
              <a:rPr lang="en-US" dirty="0"/>
              <a:t> </a:t>
            </a:r>
            <a:r>
              <a:rPr lang="en-US" dirty="0" err="1"/>
              <a:t>tudo</a:t>
            </a:r>
            <a:r>
              <a:rPr lang="en-US" dirty="0"/>
              <a:t> antes da </a:t>
            </a:r>
            <a:r>
              <a:rPr lang="en-US" dirty="0" err="1"/>
              <a:t>instalação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Automatizar</a:t>
            </a:r>
            <a:r>
              <a:rPr lang="en-US" dirty="0"/>
              <a:t> a </a:t>
            </a:r>
            <a:r>
              <a:rPr lang="en-US" dirty="0" err="1"/>
              <a:t>instalação</a:t>
            </a:r>
            <a:r>
              <a:rPr lang="en-US" dirty="0"/>
              <a:t> dos </a:t>
            </a:r>
            <a:r>
              <a:rPr lang="en-US" dirty="0" err="1"/>
              <a:t>agentes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Testar</a:t>
            </a:r>
            <a:r>
              <a:rPr lang="en-US" dirty="0"/>
              <a:t> </a:t>
            </a:r>
            <a:r>
              <a:rPr lang="en-US" dirty="0" err="1"/>
              <a:t>sempre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pacotes</a:t>
            </a:r>
            <a:r>
              <a:rPr lang="en-US" dirty="0"/>
              <a:t> antes de </a:t>
            </a:r>
            <a:r>
              <a:rPr lang="en-US" dirty="0" err="1"/>
              <a:t>instalar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Utilizar</a:t>
            </a:r>
            <a:r>
              <a:rPr lang="en-US" dirty="0"/>
              <a:t> </a:t>
            </a:r>
            <a:r>
              <a:rPr lang="en-US" i="1" dirty="0"/>
              <a:t>HTTPS</a:t>
            </a:r>
            <a:r>
              <a:rPr lang="en-US" dirty="0"/>
              <a:t> </a:t>
            </a:r>
            <a:r>
              <a:rPr lang="en-US" dirty="0" err="1"/>
              <a:t>sempre</a:t>
            </a:r>
            <a:r>
              <a:rPr lang="en-US" dirty="0"/>
              <a:t> que </a:t>
            </a:r>
            <a:r>
              <a:rPr lang="en-US" dirty="0" err="1"/>
              <a:t>possível</a:t>
            </a:r>
            <a:r>
              <a:rPr lang="en-US" dirty="0"/>
              <a:t> “</a:t>
            </a:r>
            <a:r>
              <a:rPr lang="en-US" dirty="0" err="1"/>
              <a:t>configuração</a:t>
            </a:r>
            <a:r>
              <a:rPr lang="en-US" dirty="0"/>
              <a:t> extra”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Testar</a:t>
            </a:r>
            <a:r>
              <a:rPr lang="en-US" dirty="0"/>
              <a:t> </a:t>
            </a:r>
            <a:r>
              <a:rPr lang="en-US" dirty="0" err="1"/>
              <a:t>tudo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termos</a:t>
            </a:r>
            <a:r>
              <a:rPr lang="en-US" dirty="0"/>
              <a:t> de </a:t>
            </a:r>
            <a:r>
              <a:rPr lang="en-US" i="1" dirty="0"/>
              <a:t>IP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0AFE0FB-A4A2-4D1B-BF1C-43A928F5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62" y="1294350"/>
            <a:ext cx="2905638" cy="21792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" grpId="0" build="p"/>
    </p:bld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E3E7F0"/>
      </a:lt1>
      <a:dk2>
        <a:srgbClr val="000000"/>
      </a:dk2>
      <a:lt2>
        <a:srgbClr val="E3E7F0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459</Words>
  <Application>Microsoft Office PowerPoint</Application>
  <PresentationFormat>Apresentação no Ecrã (16:9)</PresentationFormat>
  <Paragraphs>68</Paragraphs>
  <Slides>10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7" baseType="lpstr">
      <vt:lpstr>Vidaloka</vt:lpstr>
      <vt:lpstr>Arial</vt:lpstr>
      <vt:lpstr>Crimson Text</vt:lpstr>
      <vt:lpstr>Montserrat Medium</vt:lpstr>
      <vt:lpstr>Montserrat</vt:lpstr>
      <vt:lpstr>Lato</vt:lpstr>
      <vt:lpstr>Minimalist Business Slides XL by Slidesgo</vt:lpstr>
      <vt:lpstr>OCS Inventory NG</vt:lpstr>
      <vt:lpstr>Introdução</vt:lpstr>
      <vt:lpstr>Funcionamento</vt:lpstr>
      <vt:lpstr>Funcionamento</vt:lpstr>
      <vt:lpstr>Softwares compativeis</vt:lpstr>
      <vt:lpstr>Agentes</vt:lpstr>
      <vt:lpstr>Porque devo utilizar ?</vt:lpstr>
      <vt:lpstr>Explicação dos laboratórios criados</vt:lpstr>
      <vt:lpstr>Continuação da explicação</vt:lpstr>
      <vt:lpstr>Recomendações e boas práticas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OCS Inventory NG</dc:title>
  <dc:creator>T0133589</dc:creator>
  <cp:lastModifiedBy>Rafael Filipe Ribeiro Torrao</cp:lastModifiedBy>
  <cp:revision>29</cp:revision>
  <dcterms:modified xsi:type="dcterms:W3CDTF">2026-01-13T23:20:07Z</dcterms:modified>
</cp:coreProperties>
</file>